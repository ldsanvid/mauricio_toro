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4"/>
  </p:notesMasterIdLst>
  <p:handoutMasterIdLst>
    <p:handoutMasterId r:id="rId15"/>
  </p:handoutMasterIdLst>
  <p:sldIdLst>
    <p:sldId id="256" r:id="rId5"/>
    <p:sldId id="277" r:id="rId6"/>
    <p:sldId id="258" r:id="rId7"/>
    <p:sldId id="301" r:id="rId8"/>
    <p:sldId id="311" r:id="rId9"/>
    <p:sldId id="313" r:id="rId10"/>
    <p:sldId id="314" r:id="rId11"/>
    <p:sldId id="312" r:id="rId12"/>
    <p:sldId id="276" r:id="rId13"/>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3"/>
    <a:srgbClr val="E9E6D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01B0BA1-89F5-4C40-BE23-CE8523D4A38C}" type="datetime1">
              <a:rPr lang="es-MX" smtClean="0"/>
              <a:t>21/09/2026</a:t>
            </a:fld>
            <a:endParaRPr lang="es-MX"/>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MX" smtClean="0"/>
              <a:t>‹Nº›</a:t>
            </a:fld>
            <a:endParaRPr lang="es-MX"/>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ADEE56-102C-4AEE-A573-4F3D1550F9E4}" type="datetime1">
              <a:rPr lang="es-MX" smtClean="0"/>
              <a:pPr/>
              <a:t>21/09/2026</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MX" noProof="0" smtClean="0"/>
              <a:t>‹Nº›</a:t>
            </a:fld>
            <a:endParaRPr lang="es-MX"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a:t>
            </a:fld>
            <a:endParaRPr lang="es-MX" dirty="0"/>
          </a:p>
        </p:txBody>
      </p:sp>
    </p:spTree>
    <p:extLst>
      <p:ext uri="{BB962C8B-B14F-4D97-AF65-F5344CB8AC3E}">
        <p14:creationId xmlns:p14="http://schemas.microsoft.com/office/powerpoint/2010/main" val="270935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2</a:t>
            </a:fld>
            <a:endParaRPr lang="es-MX" dirty="0"/>
          </a:p>
        </p:txBody>
      </p:sp>
    </p:spTree>
    <p:extLst>
      <p:ext uri="{BB962C8B-B14F-4D97-AF65-F5344CB8AC3E}">
        <p14:creationId xmlns:p14="http://schemas.microsoft.com/office/powerpoint/2010/main" val="2804650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3</a:t>
            </a:fld>
            <a:endParaRPr lang="es-MX" dirty="0"/>
          </a:p>
        </p:txBody>
      </p:sp>
    </p:spTree>
    <p:extLst>
      <p:ext uri="{BB962C8B-B14F-4D97-AF65-F5344CB8AC3E}">
        <p14:creationId xmlns:p14="http://schemas.microsoft.com/office/powerpoint/2010/main" val="78885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7FF4-E4F2-C7C6-1091-14BD93B2EB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2E29AF-AD3F-9F9D-94CF-6C5B7140BE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21E01C7-BB6F-8DF7-3946-0BCFC4451A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EF63061-E2D4-386A-2263-2B11AF0A1420}"/>
              </a:ext>
            </a:extLst>
          </p:cNvPr>
          <p:cNvSpPr>
            <a:spLocks noGrp="1"/>
          </p:cNvSpPr>
          <p:nvPr>
            <p:ph type="sldNum" sz="quarter" idx="5"/>
          </p:nvPr>
        </p:nvSpPr>
        <p:spPr/>
        <p:txBody>
          <a:bodyPr/>
          <a:lstStyle/>
          <a:p>
            <a:pPr rtl="0"/>
            <a:fld id="{D4B9A9E5-4F7F-4A7D-9DE1-899232329269}" type="slidenum">
              <a:rPr lang="es-MX" smtClean="0"/>
              <a:t>4</a:t>
            </a:fld>
            <a:endParaRPr lang="es-MX" dirty="0"/>
          </a:p>
        </p:txBody>
      </p:sp>
    </p:spTree>
    <p:extLst>
      <p:ext uri="{BB962C8B-B14F-4D97-AF65-F5344CB8AC3E}">
        <p14:creationId xmlns:p14="http://schemas.microsoft.com/office/powerpoint/2010/main" val="4015419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21F5B-BEF5-5600-06A0-DF4DCE73BE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7F2B62-905F-4659-3537-09D2B9CAD142}"/>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9DEAA816-6B8A-7E22-C081-F808386669E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5A36F38-8161-5571-4285-75BDE8012C97}"/>
              </a:ext>
            </a:extLst>
          </p:cNvPr>
          <p:cNvSpPr>
            <a:spLocks noGrp="1"/>
          </p:cNvSpPr>
          <p:nvPr>
            <p:ph type="sldNum" sz="quarter" idx="5"/>
          </p:nvPr>
        </p:nvSpPr>
        <p:spPr/>
        <p:txBody>
          <a:bodyPr/>
          <a:lstStyle/>
          <a:p>
            <a:pPr rtl="0"/>
            <a:fld id="{D4B9A9E5-4F7F-4A7D-9DE1-899232329269}" type="slidenum">
              <a:rPr lang="es-MX" smtClean="0"/>
              <a:t>5</a:t>
            </a:fld>
            <a:endParaRPr lang="es-MX"/>
          </a:p>
        </p:txBody>
      </p:sp>
    </p:spTree>
    <p:extLst>
      <p:ext uri="{BB962C8B-B14F-4D97-AF65-F5344CB8AC3E}">
        <p14:creationId xmlns:p14="http://schemas.microsoft.com/office/powerpoint/2010/main" val="637100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1F30-0F44-6DFB-9421-6AD87503BF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16BC48-CEE3-2B67-AECD-91C391930DD1}"/>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EEE61FCD-9A20-EDC7-D74D-CE0AE4E9C39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12E2B08-D882-09C4-C395-17F95FB2FA7B}"/>
              </a:ext>
            </a:extLst>
          </p:cNvPr>
          <p:cNvSpPr>
            <a:spLocks noGrp="1"/>
          </p:cNvSpPr>
          <p:nvPr>
            <p:ph type="sldNum" sz="quarter" idx="5"/>
          </p:nvPr>
        </p:nvSpPr>
        <p:spPr/>
        <p:txBody>
          <a:bodyPr/>
          <a:lstStyle/>
          <a:p>
            <a:pPr rtl="0"/>
            <a:fld id="{D4B9A9E5-4F7F-4A7D-9DE1-899232329269}" type="slidenum">
              <a:rPr lang="es-MX" smtClean="0"/>
              <a:t>6</a:t>
            </a:fld>
            <a:endParaRPr lang="es-MX"/>
          </a:p>
        </p:txBody>
      </p:sp>
    </p:spTree>
    <p:extLst>
      <p:ext uri="{BB962C8B-B14F-4D97-AF65-F5344CB8AC3E}">
        <p14:creationId xmlns:p14="http://schemas.microsoft.com/office/powerpoint/2010/main" val="2948051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4136A-E752-76F6-0DF8-32822D6CA8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97D197-A933-8761-1096-8DF16F8013BB}"/>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08E73D11-1809-844A-8ABF-8450D3C47B3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4AD8593-05A1-DD7D-263A-172AB13E50C6}"/>
              </a:ext>
            </a:extLst>
          </p:cNvPr>
          <p:cNvSpPr>
            <a:spLocks noGrp="1"/>
          </p:cNvSpPr>
          <p:nvPr>
            <p:ph type="sldNum" sz="quarter" idx="5"/>
          </p:nvPr>
        </p:nvSpPr>
        <p:spPr/>
        <p:txBody>
          <a:bodyPr/>
          <a:lstStyle/>
          <a:p>
            <a:pPr rtl="0"/>
            <a:fld id="{D4B9A9E5-4F7F-4A7D-9DE1-899232329269}" type="slidenum">
              <a:rPr lang="es-MX" smtClean="0"/>
              <a:t>7</a:t>
            </a:fld>
            <a:endParaRPr lang="es-MX"/>
          </a:p>
        </p:txBody>
      </p:sp>
    </p:spTree>
    <p:extLst>
      <p:ext uri="{BB962C8B-B14F-4D97-AF65-F5344CB8AC3E}">
        <p14:creationId xmlns:p14="http://schemas.microsoft.com/office/powerpoint/2010/main" val="1496844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AE8-1336-7E77-E8CD-F52F3E6DC4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FCFFE2-5B15-69D0-CB03-DAE8FF8E9D1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D2FFB45A-8058-348E-974E-AA326D9FD3C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FD7CE977-4D9A-26F2-1D17-A31BAC76253F}"/>
              </a:ext>
            </a:extLst>
          </p:cNvPr>
          <p:cNvSpPr>
            <a:spLocks noGrp="1"/>
          </p:cNvSpPr>
          <p:nvPr>
            <p:ph type="sldNum" sz="quarter" idx="5"/>
          </p:nvPr>
        </p:nvSpPr>
        <p:spPr/>
        <p:txBody>
          <a:bodyPr/>
          <a:lstStyle/>
          <a:p>
            <a:pPr rtl="0"/>
            <a:fld id="{D4B9A9E5-4F7F-4A7D-9DE1-899232329269}" type="slidenum">
              <a:rPr lang="es-MX" smtClean="0"/>
              <a:t>8</a:t>
            </a:fld>
            <a:endParaRPr lang="es-MX"/>
          </a:p>
        </p:txBody>
      </p:sp>
    </p:spTree>
    <p:extLst>
      <p:ext uri="{BB962C8B-B14F-4D97-AF65-F5344CB8AC3E}">
        <p14:creationId xmlns:p14="http://schemas.microsoft.com/office/powerpoint/2010/main" val="655945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D4B9A9E5-4F7F-4A7D-9DE1-899232329269}" type="slidenum">
              <a:rPr lang="es-MX" smtClean="0"/>
              <a:t>9</a:t>
            </a:fld>
            <a:endParaRPr lang="es-MX"/>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ítulo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es-MX" noProof="0"/>
              <a:t>HAGA CLIC PARA EDITAR EL ESTILO DEL TÍTULO DEL PATRÓN</a:t>
            </a:r>
          </a:p>
        </p:txBody>
      </p:sp>
      <p:sp>
        <p:nvSpPr>
          <p:cNvPr id="3" name="Marcador de contenido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s-MX" noProof="0"/>
              <a:t>20XX</a:t>
            </a:r>
          </a:p>
        </p:txBody>
      </p:sp>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osición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es-MX" noProof="0"/>
              <a:t>Plataforma de presentación</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MX" noProof="0" smtClean="0"/>
              <a:t>‹Nº›</a:t>
            </a:fld>
            <a:endParaRPr lang="es-MX"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es-MX" noProof="0"/>
              <a:t>HAZ CLIC PARA EDITAR EL ESTILO DEL TÍTULO DEL PATRÓN</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19" name="Marcador de posición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es contenid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6" name="Marcador de posición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os objet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38" name="Marcador de posición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es-MX" noProof="0"/>
              <a:t>Haz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Plataforma de presentación</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posición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s-MX" noProof="0" smtClean="0"/>
              <a:t>‹Nº›</a:t>
            </a:fld>
            <a:endParaRPr lang="es-MX"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posición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posición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posición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Haz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s-MX"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s-MX" noProof="0" dirty="0"/>
              <a:t>Monitoreo </a:t>
            </a:r>
            <a:r>
              <a:rPr lang="es-MX" b="1" noProof="0" dirty="0"/>
              <a:t>+</a:t>
            </a:r>
            <a:r>
              <a:rPr lang="es-MX" noProof="0" dirty="0"/>
              <a:t> </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lstStyle/>
          <a:p>
            <a:pPr rtl="0"/>
            <a:r>
              <a:rPr lang="es-MX" noProof="0" dirty="0"/>
              <a:t>Luis Daniel Santiago Vidargas</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073091" y="1969839"/>
            <a:ext cx="2095064" cy="670919"/>
          </a:xfrm>
          <a:solidFill>
            <a:srgbClr val="F9F9F9">
              <a:alpha val="50000"/>
            </a:srgbClr>
          </a:solidFill>
        </p:spPr>
        <p:txBody>
          <a:bodyPr rtlCol="0" anchor="ctr"/>
          <a:lstStyle/>
          <a:p>
            <a:pPr algn="ctr" rtl="0"/>
            <a:r>
              <a:rPr lang="es-MX" noProof="0" dirty="0"/>
              <a:t>QUIÉN Soy</a:t>
            </a:r>
          </a:p>
        </p:txBody>
      </p:sp>
      <p:sp>
        <p:nvSpPr>
          <p:cNvPr id="3" name="Subtítulo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6429375" y="3428999"/>
            <a:ext cx="5382496" cy="2400300"/>
          </a:xfrm>
          <a:solidFill>
            <a:srgbClr val="F9F9F9">
              <a:alpha val="80000"/>
            </a:srgbClr>
          </a:solidFill>
        </p:spPr>
        <p:txBody>
          <a:bodyPr rtlCol="0" anchor="ctr">
            <a:normAutofit/>
          </a:bodyPr>
          <a:lstStyle/>
          <a:p>
            <a:pPr algn="just" rtl="0"/>
            <a:r>
              <a:rPr lang="es-ES" noProof="0" dirty="0"/>
              <a:t>Licenciado en Comunicación por la Universidad Panamericana con una especialidad en Minería y Análisis de Datos por el Tecnológico de Monterrey. Más de 10 años de experiencia como estratega de comunicación desarrollando campañas integrales potenciadas por el análisis de datos para gobiernos, candidatos, partidos políticos, ONG, grupos de interés y empresas en </a:t>
            </a:r>
            <a:r>
              <a:rPr lang="es-MX" dirty="0"/>
              <a:t>México, Estados Unidos, Colombia, Ecuador y Panamá, entre otros. </a:t>
            </a:r>
            <a:endParaRPr lang="es-MX" noProof="0" dirty="0"/>
          </a:p>
        </p:txBody>
      </p:sp>
      <p:sp>
        <p:nvSpPr>
          <p:cNvPr id="6" name="Marcador de fecha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s-MX" noProof="0" dirty="0"/>
              <a:t>2026</a:t>
            </a:r>
          </a:p>
        </p:txBody>
      </p:sp>
      <p:sp>
        <p:nvSpPr>
          <p:cNvPr id="5" name="Marcador de pie de página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s-MX" noProof="0" smtClean="0"/>
              <a:pPr/>
              <a:t>2</a:t>
            </a:fld>
            <a:endParaRPr lang="es-MX" noProof="0" dirty="0"/>
          </a:p>
        </p:txBody>
      </p:sp>
      <p:pic>
        <p:nvPicPr>
          <p:cNvPr id="8" name="Imagen 7">
            <a:extLst>
              <a:ext uri="{FF2B5EF4-FFF2-40B4-BE49-F238E27FC236}">
                <a16:creationId xmlns:a16="http://schemas.microsoft.com/office/drawing/2014/main" id="{A0AB3B20-AB5C-2DBF-0DF4-F255675A59A2}"/>
              </a:ext>
            </a:extLst>
          </p:cNvPr>
          <p:cNvPicPr>
            <a:picLocks noChangeAspect="1"/>
          </p:cNvPicPr>
          <p:nvPr/>
        </p:nvPicPr>
        <p:blipFill>
          <a:blip r:embed="rId3"/>
          <a:stretch>
            <a:fillRect/>
          </a:stretch>
        </p:blipFill>
        <p:spPr>
          <a:xfrm>
            <a:off x="851062" y="1969839"/>
            <a:ext cx="2935190" cy="2918321"/>
          </a:xfrm>
          <a:prstGeom prst="rect">
            <a:avLst/>
          </a:prstGeom>
        </p:spPr>
      </p:pic>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DE7F2-E890-4744-88DD-A75F5E300513}"/>
              </a:ext>
            </a:extLst>
          </p:cNvPr>
          <p:cNvSpPr>
            <a:spLocks noGrp="1"/>
          </p:cNvSpPr>
          <p:nvPr>
            <p:ph type="ctrTitle"/>
          </p:nvPr>
        </p:nvSpPr>
        <p:spPr>
          <a:xfrm>
            <a:off x="5859625" y="1940767"/>
            <a:ext cx="5756988" cy="3984172"/>
          </a:xfrm>
        </p:spPr>
        <p:txBody>
          <a:bodyPr rtlCol="0"/>
          <a:lstStyle/>
          <a:p>
            <a:pPr algn="ctr" rtl="0"/>
            <a:r>
              <a:rPr lang="es-MX" i="1" u="sng" noProof="0" dirty="0"/>
              <a:t>Mi especialidad:</a:t>
            </a:r>
            <a:br>
              <a:rPr lang="es-MX" i="1" u="sng" noProof="0" dirty="0"/>
            </a:br>
            <a:r>
              <a:rPr lang="es-MX" noProof="0" dirty="0"/>
              <a:t>Convertir </a:t>
            </a:r>
            <a:r>
              <a:rPr lang="es-MX" b="1" noProof="0" dirty="0"/>
              <a:t>datos </a:t>
            </a:r>
            <a:r>
              <a:rPr lang="es-MX" noProof="0" dirty="0"/>
              <a:t>en </a:t>
            </a:r>
            <a:r>
              <a:rPr lang="es-MX" b="1" noProof="0" dirty="0"/>
              <a:t>información accionable</a:t>
            </a:r>
            <a:r>
              <a:rPr lang="es-MX" noProof="0" dirty="0"/>
              <a:t> para </a:t>
            </a:r>
            <a:r>
              <a:rPr lang="es-MX" i="1" u="sng" noProof="0" dirty="0"/>
              <a:t>tomar decisiones</a:t>
            </a:r>
            <a:endParaRPr lang="es-MX" b="1" i="1" u="sng" noProof="0" dirty="0"/>
          </a:p>
        </p:txBody>
      </p:sp>
      <p:sp>
        <p:nvSpPr>
          <p:cNvPr id="3" name="Marcador de pie de página 12">
            <a:extLst>
              <a:ext uri="{FF2B5EF4-FFF2-40B4-BE49-F238E27FC236}">
                <a16:creationId xmlns:a16="http://schemas.microsoft.com/office/drawing/2014/main" id="{2DC6F124-91D5-8881-E215-FFF77F3EAC28}"/>
              </a:ext>
            </a:extLst>
          </p:cNvPr>
          <p:cNvSpPr txBox="1">
            <a:spLocks/>
          </p:cNvSpPr>
          <p:nvPr/>
        </p:nvSpPr>
        <p:spPr>
          <a:xfrm>
            <a:off x="4038600" y="6356350"/>
            <a:ext cx="4114800" cy="365125"/>
          </a:xfrm>
          <a:prstGeom prst="rect">
            <a:avLst/>
          </a:prstGeom>
        </p:spPr>
        <p:txBody>
          <a:bodyPr vert="horz" lIns="91440" tIns="45720" rIns="91440" bIns="45720" rtlCol="0" anchor="ctr"/>
          <a:lstStyle>
            <a:defPPr rtl="0">
              <a:defRPr lang="es-MX"/>
            </a:defPPr>
            <a:lvl1pPr algn="ctr">
              <a:defRPr sz="9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noProof="0" dirty="0"/>
              <a:t>Luis Daniel Santiago Vidargas</a:t>
            </a:r>
            <a:r>
              <a:rPr lang="es-MX" dirty="0"/>
              <a:t> – Monitoreo +</a:t>
            </a:r>
            <a:endParaRPr lang="es-MX" noProof="0" dirty="0"/>
          </a:p>
        </p:txBody>
      </p:sp>
      <p:sp>
        <p:nvSpPr>
          <p:cNvPr id="4" name="Marcador de número de diapositiva 13">
            <a:extLst>
              <a:ext uri="{FF2B5EF4-FFF2-40B4-BE49-F238E27FC236}">
                <a16:creationId xmlns:a16="http://schemas.microsoft.com/office/drawing/2014/main" id="{F910FC4F-29ED-C9CC-7DBA-8AD4704E1DDB}"/>
              </a:ext>
            </a:extLst>
          </p:cNvPr>
          <p:cNvSpPr txBox="1">
            <a:spLocks/>
          </p:cNvSpPr>
          <p:nvPr/>
        </p:nvSpPr>
        <p:spPr>
          <a:xfrm>
            <a:off x="8610600" y="6356350"/>
            <a:ext cx="2743200" cy="365125"/>
          </a:xfrm>
          <a:prstGeom prst="rect">
            <a:avLst/>
          </a:prstGeom>
        </p:spPr>
        <p:txBody>
          <a:bodyPr vert="horz" lIns="91440" tIns="45720" rIns="91440" bIns="45720" rtlCol="0" anchor="ctr"/>
          <a:lstStyle>
            <a:defPPr rtl="0">
              <a:defRPr lang="es-MX"/>
            </a:defPPr>
            <a:lvl1pPr algn="r">
              <a:defRPr sz="9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noProof="0" dirty="0"/>
              <a:t>3</a:t>
            </a:r>
          </a:p>
        </p:txBody>
      </p:sp>
      <p:sp>
        <p:nvSpPr>
          <p:cNvPr id="5" name="Marcador de fecha 11">
            <a:extLst>
              <a:ext uri="{FF2B5EF4-FFF2-40B4-BE49-F238E27FC236}">
                <a16:creationId xmlns:a16="http://schemas.microsoft.com/office/drawing/2014/main" id="{80B948E0-E76B-8460-8311-56199F3B725E}"/>
              </a:ext>
            </a:extLst>
          </p:cNvPr>
          <p:cNvSpPr txBox="1">
            <a:spLocks/>
          </p:cNvSpPr>
          <p:nvPr/>
        </p:nvSpPr>
        <p:spPr>
          <a:xfrm>
            <a:off x="838200" y="6356350"/>
            <a:ext cx="2743200" cy="365125"/>
          </a:xfrm>
          <a:prstGeom prst="rect">
            <a:avLst/>
          </a:prstGeom>
        </p:spPr>
        <p:txBody>
          <a:bodyPr vert="horz" lIns="91440" tIns="45720" rIns="91440" bIns="45720" rtlCol="0" anchor="ctr"/>
          <a:lstStyle>
            <a:defPPr rtl="0">
              <a:defRPr lang="es-MX"/>
            </a:defPPr>
            <a:lvl1pPr algn="ctr">
              <a:defRPr sz="9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MX" noProof="0" dirty="0"/>
              <a:t>2026</a:t>
            </a:r>
          </a:p>
        </p:txBody>
      </p:sp>
    </p:spTree>
    <p:extLst>
      <p:ext uri="{BB962C8B-B14F-4D97-AF65-F5344CB8AC3E}">
        <p14:creationId xmlns:p14="http://schemas.microsoft.com/office/powerpoint/2010/main" val="707789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03A7-7DC1-8477-D65D-0703C3FF8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7379D2-7288-AF11-106C-5960673677D3}"/>
              </a:ext>
            </a:extLst>
          </p:cNvPr>
          <p:cNvSpPr>
            <a:spLocks noGrp="1"/>
          </p:cNvSpPr>
          <p:nvPr>
            <p:ph type="title"/>
          </p:nvPr>
        </p:nvSpPr>
        <p:spPr>
          <a:xfrm>
            <a:off x="1885156" y="2674324"/>
            <a:ext cx="8421688" cy="1325563"/>
          </a:xfrm>
        </p:spPr>
        <p:txBody>
          <a:bodyPr rtlCol="0"/>
          <a:lstStyle/>
          <a:p>
            <a:pPr rtl="0"/>
            <a:r>
              <a:rPr lang="es-MX" b="1" noProof="0" dirty="0"/>
              <a:t>La herramienta</a:t>
            </a:r>
          </a:p>
        </p:txBody>
      </p:sp>
      <p:sp>
        <p:nvSpPr>
          <p:cNvPr id="3" name="Marcador de fecha 2">
            <a:extLst>
              <a:ext uri="{FF2B5EF4-FFF2-40B4-BE49-F238E27FC236}">
                <a16:creationId xmlns:a16="http://schemas.microsoft.com/office/drawing/2014/main" id="{06A61B0F-535B-5D4C-2CA0-8C96CDFF8D93}"/>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96B48885-0EA3-D615-E866-C2D7AC9C2798}"/>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3729AD4-9328-91AF-86C3-DD94A35D830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4</a:t>
            </a:fld>
            <a:endParaRPr lang="es-MX" noProof="0" dirty="0"/>
          </a:p>
        </p:txBody>
      </p:sp>
    </p:spTree>
    <p:extLst>
      <p:ext uri="{BB962C8B-B14F-4D97-AF65-F5344CB8AC3E}">
        <p14:creationId xmlns:p14="http://schemas.microsoft.com/office/powerpoint/2010/main" val="265566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FDABC-2EC5-E1BE-A22D-37B29FAC71B1}"/>
            </a:ext>
          </a:extLst>
        </p:cNvPr>
        <p:cNvGrpSpPr/>
        <p:nvPr/>
      </p:nvGrpSpPr>
      <p:grpSpPr>
        <a:xfrm>
          <a:off x="0" y="0"/>
          <a:ext cx="0" cy="0"/>
          <a:chOff x="0" y="0"/>
          <a:chExt cx="0" cy="0"/>
        </a:xfrm>
      </p:grpSpPr>
      <p:sp>
        <p:nvSpPr>
          <p:cNvPr id="4" name="Marcador de posición de texto 3">
            <a:extLst>
              <a:ext uri="{FF2B5EF4-FFF2-40B4-BE49-F238E27FC236}">
                <a16:creationId xmlns:a16="http://schemas.microsoft.com/office/drawing/2014/main" id="{05D55536-9C4C-F221-C4D4-B6E43791B125}"/>
              </a:ext>
            </a:extLst>
          </p:cNvPr>
          <p:cNvSpPr>
            <a:spLocks noGrp="1"/>
          </p:cNvSpPr>
          <p:nvPr>
            <p:ph type="body" sz="quarter" idx="15"/>
          </p:nvPr>
        </p:nvSpPr>
        <p:spPr>
          <a:xfrm>
            <a:off x="1156673" y="1030392"/>
            <a:ext cx="10050104" cy="5325958"/>
          </a:xfrm>
          <a:noFill/>
        </p:spPr>
        <p:txBody>
          <a:bodyPr rtlCol="0" anchor="ctr">
            <a:normAutofit/>
          </a:bodyPr>
          <a:lstStyle/>
          <a:p>
            <a:pPr algn="just">
              <a:lnSpc>
                <a:spcPct val="150000"/>
              </a:lnSpc>
            </a:pPr>
            <a:r>
              <a:rPr lang="es-ES" sz="2000" dirty="0"/>
              <a:t>Analiza en tiempo real </a:t>
            </a:r>
            <a:r>
              <a:rPr lang="es-ES" sz="2000" b="1" dirty="0"/>
              <a:t>múltiples medios de comunicación digitales </a:t>
            </a:r>
            <a:r>
              <a:rPr lang="es-ES" sz="2000" dirty="0"/>
              <a:t>para generar </a:t>
            </a:r>
            <a:r>
              <a:rPr lang="es-ES" sz="2000" b="1" dirty="0"/>
              <a:t>un resumen ejecutivo actualizado </a:t>
            </a:r>
            <a:r>
              <a:rPr lang="es-ES" sz="2000" dirty="0"/>
              <a:t>sobre las </a:t>
            </a:r>
            <a:r>
              <a:rPr lang="es-ES" sz="2000" b="1" dirty="0"/>
              <a:t>principales notas de todos los temas que le importan al cliente </a:t>
            </a:r>
            <a:r>
              <a:rPr lang="es-ES" sz="2000" i="1" dirty="0"/>
              <a:t>(“Mauricio Toro”, “Alianza Verde”, “Cámara de Representantes”, “Comisión Sexta”, “Bogotá”, “Reforma Tributaria”, “Abelardo de la Espriella”, </a:t>
            </a:r>
            <a:r>
              <a:rPr lang="es-ES" sz="2000" dirty="0"/>
              <a:t>o cualquier otro</a:t>
            </a:r>
            <a:r>
              <a:rPr lang="es-ES" sz="2000" i="1" dirty="0"/>
              <a:t>) </a:t>
            </a:r>
            <a:r>
              <a:rPr lang="es-ES" sz="2000" dirty="0"/>
              <a:t>centralizado en un </a:t>
            </a:r>
            <a:r>
              <a:rPr lang="es-ES" sz="2000" b="1" dirty="0"/>
              <a:t>sitio web privado</a:t>
            </a:r>
            <a:r>
              <a:rPr lang="es-ES" sz="2000" dirty="0"/>
              <a:t>, en el que se almacenan todos los </a:t>
            </a:r>
            <a:r>
              <a:rPr lang="es-ES" sz="2000" b="1" dirty="0"/>
              <a:t>resúmenes y publicaciones de fechas anteriores</a:t>
            </a:r>
            <a:r>
              <a:rPr lang="es-ES" sz="2000" dirty="0"/>
              <a:t>, disponibles para su consulta</a:t>
            </a:r>
            <a:r>
              <a:rPr lang="es-ES" sz="2000" i="1" dirty="0"/>
              <a:t>. </a:t>
            </a:r>
            <a:r>
              <a:rPr lang="es-ES" sz="2000" dirty="0"/>
              <a:t>Incluye un </a:t>
            </a:r>
            <a:r>
              <a:rPr lang="es-ES" sz="2000" b="1" dirty="0"/>
              <a:t>sistema de alertas de noticias vía Telegram</a:t>
            </a:r>
            <a:r>
              <a:rPr lang="es-ES" sz="2000" dirty="0"/>
              <a:t>, así como un </a:t>
            </a:r>
            <a:r>
              <a:rPr lang="es-ES" sz="2000" b="1" dirty="0"/>
              <a:t>documento semanal </a:t>
            </a:r>
            <a:r>
              <a:rPr lang="es-ES" sz="2000" dirty="0"/>
              <a:t>en el que se </a:t>
            </a:r>
            <a:r>
              <a:rPr lang="es-ES" sz="2000" b="1" dirty="0"/>
              <a:t>analizan</a:t>
            </a:r>
            <a:r>
              <a:rPr lang="es-ES" sz="2000" dirty="0"/>
              <a:t> con mayor detalle </a:t>
            </a:r>
            <a:r>
              <a:rPr lang="es-ES" sz="2000" b="1" dirty="0"/>
              <a:t>algunas noticias de la semana</a:t>
            </a:r>
            <a:r>
              <a:rPr lang="es-ES" sz="2000" dirty="0"/>
              <a:t> agregando una </a:t>
            </a:r>
            <a:r>
              <a:rPr lang="es-ES" sz="2000" b="1" dirty="0"/>
              <a:t>lectura estratégica</a:t>
            </a:r>
            <a:r>
              <a:rPr lang="es-ES" sz="2000" dirty="0"/>
              <a:t>.</a:t>
            </a:r>
          </a:p>
        </p:txBody>
      </p:sp>
      <p:sp>
        <p:nvSpPr>
          <p:cNvPr id="80" name="Marcador de fecha 79">
            <a:extLst>
              <a:ext uri="{FF2B5EF4-FFF2-40B4-BE49-F238E27FC236}">
                <a16:creationId xmlns:a16="http://schemas.microsoft.com/office/drawing/2014/main" id="{C3617742-F0DF-9943-938C-F769937A8300}"/>
              </a:ext>
            </a:extLst>
          </p:cNvPr>
          <p:cNvSpPr>
            <a:spLocks noGrp="1"/>
          </p:cNvSpPr>
          <p:nvPr>
            <p:ph type="dt" sz="half" idx="20"/>
          </p:nvPr>
        </p:nvSpPr>
        <p:spPr>
          <a:xfrm>
            <a:off x="838200" y="6356350"/>
            <a:ext cx="2743200" cy="365125"/>
          </a:xfrm>
        </p:spPr>
        <p:txBody>
          <a:bodyPr rtlCol="0"/>
          <a:lstStyle/>
          <a:p>
            <a:pPr rtl="0"/>
            <a:r>
              <a:rPr lang="es-MX" noProof="0" dirty="0"/>
              <a:t>2026</a:t>
            </a:r>
          </a:p>
        </p:txBody>
      </p:sp>
      <p:sp>
        <p:nvSpPr>
          <p:cNvPr id="81" name="Marcador de pie de página 80">
            <a:extLst>
              <a:ext uri="{FF2B5EF4-FFF2-40B4-BE49-F238E27FC236}">
                <a16:creationId xmlns:a16="http://schemas.microsoft.com/office/drawing/2014/main" id="{FEC2BE92-CDA2-4225-A83A-AA8B83052BA9}"/>
              </a:ext>
            </a:extLst>
          </p:cNvPr>
          <p:cNvSpPr>
            <a:spLocks noGrp="1"/>
          </p:cNvSpPr>
          <p:nvPr>
            <p:ph type="ftr" sz="quarter" idx="21"/>
          </p:nvPr>
        </p:nvSpPr>
        <p:spPr>
          <a:xfrm>
            <a:off x="4038600" y="6356350"/>
            <a:ext cx="4114800" cy="365125"/>
          </a:xfrm>
        </p:spPr>
        <p:txBody>
          <a:bodyPr rtlCol="0"/>
          <a:lstStyle/>
          <a:p>
            <a:pPr rtl="0"/>
            <a:r>
              <a:rPr lang="es-MX" dirty="0"/>
              <a:t>Luis Daniel Santiago Vidargas – Monitoreo +</a:t>
            </a:r>
          </a:p>
        </p:txBody>
      </p:sp>
      <p:sp>
        <p:nvSpPr>
          <p:cNvPr id="82" name="Marcador de número de diapositiva 81">
            <a:extLst>
              <a:ext uri="{FF2B5EF4-FFF2-40B4-BE49-F238E27FC236}">
                <a16:creationId xmlns:a16="http://schemas.microsoft.com/office/drawing/2014/main" id="{41FEAE60-170F-7983-5AF1-6CDF43C35E4A}"/>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s-MX" noProof="0" smtClean="0"/>
              <a:pPr rtl="0"/>
              <a:t>5</a:t>
            </a:fld>
            <a:endParaRPr lang="es-MX" noProof="0" dirty="0"/>
          </a:p>
        </p:txBody>
      </p:sp>
      <p:sp>
        <p:nvSpPr>
          <p:cNvPr id="11" name="Marcador de posición de texto 3">
            <a:extLst>
              <a:ext uri="{FF2B5EF4-FFF2-40B4-BE49-F238E27FC236}">
                <a16:creationId xmlns:a16="http://schemas.microsoft.com/office/drawing/2014/main" id="{6EC7C3FD-2BD1-9DC7-C55D-4651A1D967DE}"/>
              </a:ext>
            </a:extLst>
          </p:cNvPr>
          <p:cNvSpPr txBox="1">
            <a:spLocks/>
          </p:cNvSpPr>
          <p:nvPr/>
        </p:nvSpPr>
        <p:spPr>
          <a:xfrm>
            <a:off x="4497040" y="501650"/>
            <a:ext cx="3197920" cy="51435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MX" sz="3200" b="1" noProof="0" dirty="0">
                <a:latin typeface="+mj-lt"/>
              </a:rPr>
              <a:t>Monitoreo +</a:t>
            </a:r>
          </a:p>
        </p:txBody>
      </p:sp>
    </p:spTree>
    <p:extLst>
      <p:ext uri="{BB962C8B-B14F-4D97-AF65-F5344CB8AC3E}">
        <p14:creationId xmlns:p14="http://schemas.microsoft.com/office/powerpoint/2010/main" val="258022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FF30F-22F8-7B1A-32B9-78FDE2165CC2}"/>
            </a:ext>
          </a:extLst>
        </p:cNvPr>
        <p:cNvGrpSpPr/>
        <p:nvPr/>
      </p:nvGrpSpPr>
      <p:grpSpPr>
        <a:xfrm>
          <a:off x="0" y="0"/>
          <a:ext cx="0" cy="0"/>
          <a:chOff x="0" y="0"/>
          <a:chExt cx="0" cy="0"/>
        </a:xfrm>
      </p:grpSpPr>
      <p:sp>
        <p:nvSpPr>
          <p:cNvPr id="80" name="Marcador de fecha 79">
            <a:extLst>
              <a:ext uri="{FF2B5EF4-FFF2-40B4-BE49-F238E27FC236}">
                <a16:creationId xmlns:a16="http://schemas.microsoft.com/office/drawing/2014/main" id="{126BDF08-DC53-571F-DC21-073B709BF02A}"/>
              </a:ext>
            </a:extLst>
          </p:cNvPr>
          <p:cNvSpPr>
            <a:spLocks noGrp="1"/>
          </p:cNvSpPr>
          <p:nvPr>
            <p:ph type="dt" sz="half" idx="20"/>
          </p:nvPr>
        </p:nvSpPr>
        <p:spPr>
          <a:xfrm>
            <a:off x="838200" y="6356350"/>
            <a:ext cx="2743200" cy="365125"/>
          </a:xfrm>
        </p:spPr>
        <p:txBody>
          <a:bodyPr rtlCol="0"/>
          <a:lstStyle/>
          <a:p>
            <a:pPr rtl="0"/>
            <a:r>
              <a:rPr lang="es-MX" noProof="0" dirty="0"/>
              <a:t>2026</a:t>
            </a:r>
          </a:p>
        </p:txBody>
      </p:sp>
      <p:sp>
        <p:nvSpPr>
          <p:cNvPr id="81" name="Marcador de pie de página 80">
            <a:extLst>
              <a:ext uri="{FF2B5EF4-FFF2-40B4-BE49-F238E27FC236}">
                <a16:creationId xmlns:a16="http://schemas.microsoft.com/office/drawing/2014/main" id="{86C6F9B8-11AE-B9CB-12FA-F7E95B35A81F}"/>
              </a:ext>
            </a:extLst>
          </p:cNvPr>
          <p:cNvSpPr>
            <a:spLocks noGrp="1"/>
          </p:cNvSpPr>
          <p:nvPr>
            <p:ph type="ftr" sz="quarter" idx="21"/>
          </p:nvPr>
        </p:nvSpPr>
        <p:spPr>
          <a:xfrm>
            <a:off x="4038600" y="6356350"/>
            <a:ext cx="4114800" cy="365125"/>
          </a:xfrm>
        </p:spPr>
        <p:txBody>
          <a:bodyPr rtlCol="0"/>
          <a:lstStyle/>
          <a:p>
            <a:pPr rtl="0"/>
            <a:r>
              <a:rPr lang="es-MX" dirty="0"/>
              <a:t>Luis Daniel Santiago Vidargas – Monitoreo +</a:t>
            </a:r>
          </a:p>
        </p:txBody>
      </p:sp>
      <p:sp>
        <p:nvSpPr>
          <p:cNvPr id="82" name="Marcador de número de diapositiva 81">
            <a:extLst>
              <a:ext uri="{FF2B5EF4-FFF2-40B4-BE49-F238E27FC236}">
                <a16:creationId xmlns:a16="http://schemas.microsoft.com/office/drawing/2014/main" id="{194D7713-8ED9-1A93-5FE6-5358A05811DE}"/>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s-MX" noProof="0" smtClean="0"/>
              <a:pPr rtl="0"/>
              <a:t>6</a:t>
            </a:fld>
            <a:endParaRPr lang="es-MX" noProof="0" dirty="0"/>
          </a:p>
        </p:txBody>
      </p:sp>
      <p:sp>
        <p:nvSpPr>
          <p:cNvPr id="11" name="Marcador de posición de texto 3">
            <a:extLst>
              <a:ext uri="{FF2B5EF4-FFF2-40B4-BE49-F238E27FC236}">
                <a16:creationId xmlns:a16="http://schemas.microsoft.com/office/drawing/2014/main" id="{D843026E-BD2F-7879-D027-9F359FB89146}"/>
              </a:ext>
            </a:extLst>
          </p:cNvPr>
          <p:cNvSpPr txBox="1">
            <a:spLocks/>
          </p:cNvSpPr>
          <p:nvPr/>
        </p:nvSpPr>
        <p:spPr>
          <a:xfrm>
            <a:off x="4497040" y="136525"/>
            <a:ext cx="3197920" cy="51435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MX" sz="3200" b="1" noProof="0" dirty="0">
                <a:latin typeface="+mj-lt"/>
              </a:rPr>
              <a:t>Monitoreo +</a:t>
            </a:r>
          </a:p>
        </p:txBody>
      </p:sp>
      <p:pic>
        <p:nvPicPr>
          <p:cNvPr id="6" name="Imagen 5">
            <a:extLst>
              <a:ext uri="{FF2B5EF4-FFF2-40B4-BE49-F238E27FC236}">
                <a16:creationId xmlns:a16="http://schemas.microsoft.com/office/drawing/2014/main" id="{8CA97EE1-2DCD-6CC8-7DF5-A670FC51CE28}"/>
              </a:ext>
            </a:extLst>
          </p:cNvPr>
          <p:cNvPicPr>
            <a:picLocks noChangeAspect="1"/>
          </p:cNvPicPr>
          <p:nvPr/>
        </p:nvPicPr>
        <p:blipFill>
          <a:blip r:embed="rId3"/>
          <a:stretch>
            <a:fillRect/>
          </a:stretch>
        </p:blipFill>
        <p:spPr>
          <a:xfrm>
            <a:off x="214604" y="1279067"/>
            <a:ext cx="6082122" cy="4252950"/>
          </a:xfrm>
          <a:prstGeom prst="rect">
            <a:avLst/>
          </a:prstGeom>
        </p:spPr>
      </p:pic>
      <p:pic>
        <p:nvPicPr>
          <p:cNvPr id="8" name="Imagen 7">
            <a:extLst>
              <a:ext uri="{FF2B5EF4-FFF2-40B4-BE49-F238E27FC236}">
                <a16:creationId xmlns:a16="http://schemas.microsoft.com/office/drawing/2014/main" id="{ADCAF3B6-BB70-E1ED-1E6B-34E0D530D171}"/>
              </a:ext>
            </a:extLst>
          </p:cNvPr>
          <p:cNvPicPr>
            <a:picLocks noChangeAspect="1"/>
          </p:cNvPicPr>
          <p:nvPr/>
        </p:nvPicPr>
        <p:blipFill>
          <a:blip r:embed="rId4"/>
          <a:stretch>
            <a:fillRect/>
          </a:stretch>
        </p:blipFill>
        <p:spPr>
          <a:xfrm>
            <a:off x="6307664" y="1274942"/>
            <a:ext cx="5884336" cy="4257075"/>
          </a:xfrm>
          <a:prstGeom prst="rect">
            <a:avLst/>
          </a:prstGeom>
        </p:spPr>
      </p:pic>
      <p:sp>
        <p:nvSpPr>
          <p:cNvPr id="9" name="Marcador de pie de página 80">
            <a:extLst>
              <a:ext uri="{FF2B5EF4-FFF2-40B4-BE49-F238E27FC236}">
                <a16:creationId xmlns:a16="http://schemas.microsoft.com/office/drawing/2014/main" id="{3ACA4062-73A0-9F49-4597-6FCBA156A3FF}"/>
              </a:ext>
            </a:extLst>
          </p:cNvPr>
          <p:cNvSpPr txBox="1">
            <a:spLocks/>
          </p:cNvSpPr>
          <p:nvPr/>
        </p:nvSpPr>
        <p:spPr>
          <a:xfrm>
            <a:off x="1198265" y="5593830"/>
            <a:ext cx="4114800" cy="365125"/>
          </a:xfrm>
          <a:prstGeom prst="rect">
            <a:avLst/>
          </a:prstGeom>
          <a:solidFill>
            <a:schemeClr val="bg1">
              <a:lumMod val="50000"/>
            </a:schemeClr>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dirty="0">
                <a:solidFill>
                  <a:srgbClr val="F7F6F3"/>
                </a:solidFill>
              </a:rPr>
              <a:t>Cobertura personalizada de temas relevantes para el cliente. Resumen se actualiza a medida de que se detectan nuevas noticias. </a:t>
            </a:r>
          </a:p>
        </p:txBody>
      </p:sp>
      <p:sp>
        <p:nvSpPr>
          <p:cNvPr id="12" name="Marcador de pie de página 80">
            <a:extLst>
              <a:ext uri="{FF2B5EF4-FFF2-40B4-BE49-F238E27FC236}">
                <a16:creationId xmlns:a16="http://schemas.microsoft.com/office/drawing/2014/main" id="{21A49699-ABF9-D03C-9BCA-9F82DB0DA10E}"/>
              </a:ext>
            </a:extLst>
          </p:cNvPr>
          <p:cNvSpPr txBox="1">
            <a:spLocks/>
          </p:cNvSpPr>
          <p:nvPr/>
        </p:nvSpPr>
        <p:spPr>
          <a:xfrm>
            <a:off x="7192432" y="5532017"/>
            <a:ext cx="4114800" cy="365125"/>
          </a:xfrm>
          <a:prstGeom prst="rect">
            <a:avLst/>
          </a:prstGeom>
          <a:solidFill>
            <a:schemeClr val="bg1">
              <a:lumMod val="50000"/>
            </a:schemeClr>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dirty="0">
                <a:solidFill>
                  <a:srgbClr val="F7F6F3"/>
                </a:solidFill>
              </a:rPr>
              <a:t>Detección de temas. Enlaces para noticias utilizadas en la elaboración de los resúmenes. </a:t>
            </a:r>
          </a:p>
        </p:txBody>
      </p:sp>
    </p:spTree>
    <p:extLst>
      <p:ext uri="{BB962C8B-B14F-4D97-AF65-F5344CB8AC3E}">
        <p14:creationId xmlns:p14="http://schemas.microsoft.com/office/powerpoint/2010/main" val="1265024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8470-19D9-E0E4-CA22-A63F4B54CE73}"/>
            </a:ext>
          </a:extLst>
        </p:cNvPr>
        <p:cNvGrpSpPr/>
        <p:nvPr/>
      </p:nvGrpSpPr>
      <p:grpSpPr>
        <a:xfrm>
          <a:off x="0" y="0"/>
          <a:ext cx="0" cy="0"/>
          <a:chOff x="0" y="0"/>
          <a:chExt cx="0" cy="0"/>
        </a:xfrm>
      </p:grpSpPr>
      <p:sp>
        <p:nvSpPr>
          <p:cNvPr id="80" name="Marcador de fecha 79">
            <a:extLst>
              <a:ext uri="{FF2B5EF4-FFF2-40B4-BE49-F238E27FC236}">
                <a16:creationId xmlns:a16="http://schemas.microsoft.com/office/drawing/2014/main" id="{F6368D2A-823E-F561-81EC-158540B801C8}"/>
              </a:ext>
            </a:extLst>
          </p:cNvPr>
          <p:cNvSpPr>
            <a:spLocks noGrp="1"/>
          </p:cNvSpPr>
          <p:nvPr>
            <p:ph type="dt" sz="half" idx="20"/>
          </p:nvPr>
        </p:nvSpPr>
        <p:spPr>
          <a:xfrm>
            <a:off x="838200" y="6356350"/>
            <a:ext cx="2743200" cy="365125"/>
          </a:xfrm>
        </p:spPr>
        <p:txBody>
          <a:bodyPr rtlCol="0"/>
          <a:lstStyle/>
          <a:p>
            <a:pPr rtl="0"/>
            <a:r>
              <a:rPr lang="es-MX" noProof="0" dirty="0"/>
              <a:t>2026</a:t>
            </a:r>
          </a:p>
        </p:txBody>
      </p:sp>
      <p:sp>
        <p:nvSpPr>
          <p:cNvPr id="81" name="Marcador de pie de página 80">
            <a:extLst>
              <a:ext uri="{FF2B5EF4-FFF2-40B4-BE49-F238E27FC236}">
                <a16:creationId xmlns:a16="http://schemas.microsoft.com/office/drawing/2014/main" id="{3D72A4C6-EE49-0208-7F3A-C720E73540F4}"/>
              </a:ext>
            </a:extLst>
          </p:cNvPr>
          <p:cNvSpPr>
            <a:spLocks noGrp="1"/>
          </p:cNvSpPr>
          <p:nvPr>
            <p:ph type="ftr" sz="quarter" idx="21"/>
          </p:nvPr>
        </p:nvSpPr>
        <p:spPr>
          <a:xfrm>
            <a:off x="4038600" y="6356350"/>
            <a:ext cx="4114800" cy="365125"/>
          </a:xfrm>
        </p:spPr>
        <p:txBody>
          <a:bodyPr rtlCol="0"/>
          <a:lstStyle/>
          <a:p>
            <a:pPr rtl="0"/>
            <a:r>
              <a:rPr lang="es-MX" dirty="0"/>
              <a:t>Luis Daniel Santiago Vidargas – Monitoreo +</a:t>
            </a:r>
          </a:p>
        </p:txBody>
      </p:sp>
      <p:sp>
        <p:nvSpPr>
          <p:cNvPr id="82" name="Marcador de número de diapositiva 81">
            <a:extLst>
              <a:ext uri="{FF2B5EF4-FFF2-40B4-BE49-F238E27FC236}">
                <a16:creationId xmlns:a16="http://schemas.microsoft.com/office/drawing/2014/main" id="{AFB7A85A-5687-EA30-F3B3-05FFA50384D4}"/>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s-MX" noProof="0" smtClean="0"/>
              <a:pPr rtl="0"/>
              <a:t>7</a:t>
            </a:fld>
            <a:endParaRPr lang="es-MX" noProof="0" dirty="0"/>
          </a:p>
        </p:txBody>
      </p:sp>
      <p:pic>
        <p:nvPicPr>
          <p:cNvPr id="3" name="Imagen 2">
            <a:extLst>
              <a:ext uri="{FF2B5EF4-FFF2-40B4-BE49-F238E27FC236}">
                <a16:creationId xmlns:a16="http://schemas.microsoft.com/office/drawing/2014/main" id="{8B095176-6755-6973-829C-FD45A8E7C070}"/>
              </a:ext>
            </a:extLst>
          </p:cNvPr>
          <p:cNvPicPr>
            <a:picLocks noChangeAspect="1"/>
          </p:cNvPicPr>
          <p:nvPr/>
        </p:nvPicPr>
        <p:blipFill>
          <a:blip r:embed="rId3"/>
          <a:srcRect r="7639"/>
          <a:stretch>
            <a:fillRect/>
          </a:stretch>
        </p:blipFill>
        <p:spPr>
          <a:xfrm>
            <a:off x="2537928" y="628906"/>
            <a:ext cx="2631232" cy="5841133"/>
          </a:xfrm>
          <a:prstGeom prst="rect">
            <a:avLst/>
          </a:prstGeom>
        </p:spPr>
      </p:pic>
      <p:sp>
        <p:nvSpPr>
          <p:cNvPr id="9" name="Marcador de posición de texto 3">
            <a:extLst>
              <a:ext uri="{FF2B5EF4-FFF2-40B4-BE49-F238E27FC236}">
                <a16:creationId xmlns:a16="http://schemas.microsoft.com/office/drawing/2014/main" id="{1BE087F3-DD1A-EDB8-C829-C1AC3718CA72}"/>
              </a:ext>
            </a:extLst>
          </p:cNvPr>
          <p:cNvSpPr txBox="1">
            <a:spLocks/>
          </p:cNvSpPr>
          <p:nvPr/>
        </p:nvSpPr>
        <p:spPr>
          <a:xfrm>
            <a:off x="4497040" y="136525"/>
            <a:ext cx="3197920" cy="51435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MX" sz="3200" b="1" noProof="0" dirty="0">
                <a:latin typeface="+mj-lt"/>
              </a:rPr>
              <a:t>Monitoreo +</a:t>
            </a:r>
          </a:p>
        </p:txBody>
      </p:sp>
      <p:pic>
        <p:nvPicPr>
          <p:cNvPr id="14" name="Imagen 13">
            <a:extLst>
              <a:ext uri="{FF2B5EF4-FFF2-40B4-BE49-F238E27FC236}">
                <a16:creationId xmlns:a16="http://schemas.microsoft.com/office/drawing/2014/main" id="{D5AD2D7A-120C-8C80-21A6-E5ADC14EA57F}"/>
              </a:ext>
            </a:extLst>
          </p:cNvPr>
          <p:cNvPicPr>
            <a:picLocks noChangeAspect="1"/>
          </p:cNvPicPr>
          <p:nvPr/>
        </p:nvPicPr>
        <p:blipFill>
          <a:blip r:embed="rId4"/>
          <a:stretch>
            <a:fillRect/>
          </a:stretch>
        </p:blipFill>
        <p:spPr>
          <a:xfrm>
            <a:off x="6503437" y="943859"/>
            <a:ext cx="4790917" cy="4897104"/>
          </a:xfrm>
          <a:prstGeom prst="rect">
            <a:avLst/>
          </a:prstGeom>
        </p:spPr>
      </p:pic>
      <p:sp>
        <p:nvSpPr>
          <p:cNvPr id="16" name="Marcador de pie de página 80">
            <a:extLst>
              <a:ext uri="{FF2B5EF4-FFF2-40B4-BE49-F238E27FC236}">
                <a16:creationId xmlns:a16="http://schemas.microsoft.com/office/drawing/2014/main" id="{C4B01BD1-057A-5A7F-D046-C3FDE325F3A4}"/>
              </a:ext>
            </a:extLst>
          </p:cNvPr>
          <p:cNvSpPr txBox="1">
            <a:spLocks/>
          </p:cNvSpPr>
          <p:nvPr/>
        </p:nvSpPr>
        <p:spPr>
          <a:xfrm>
            <a:off x="7542324" y="715850"/>
            <a:ext cx="2425150" cy="198616"/>
          </a:xfrm>
          <a:prstGeom prst="rect">
            <a:avLst/>
          </a:prstGeom>
          <a:solidFill>
            <a:schemeClr val="bg1">
              <a:lumMod val="50000"/>
            </a:schemeClr>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dirty="0">
                <a:solidFill>
                  <a:srgbClr val="F7F6F3"/>
                </a:solidFill>
              </a:rPr>
              <a:t>Reportes de análisis semanal</a:t>
            </a:r>
          </a:p>
        </p:txBody>
      </p:sp>
      <p:sp>
        <p:nvSpPr>
          <p:cNvPr id="18" name="Marcador de pie de página 80">
            <a:extLst>
              <a:ext uri="{FF2B5EF4-FFF2-40B4-BE49-F238E27FC236}">
                <a16:creationId xmlns:a16="http://schemas.microsoft.com/office/drawing/2014/main" id="{A9083058-E2B8-09C0-84DA-037FE7CD56DC}"/>
              </a:ext>
            </a:extLst>
          </p:cNvPr>
          <p:cNvSpPr txBox="1">
            <a:spLocks/>
          </p:cNvSpPr>
          <p:nvPr/>
        </p:nvSpPr>
        <p:spPr>
          <a:xfrm>
            <a:off x="716745" y="3282004"/>
            <a:ext cx="1530536" cy="293992"/>
          </a:xfrm>
          <a:prstGeom prst="rect">
            <a:avLst/>
          </a:prstGeom>
          <a:solidFill>
            <a:schemeClr val="bg1">
              <a:lumMod val="50000"/>
            </a:schemeClr>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dirty="0">
                <a:solidFill>
                  <a:srgbClr val="F7F6F3"/>
                </a:solidFill>
              </a:rPr>
              <a:t>Alerta de noticias vía Telegram</a:t>
            </a:r>
          </a:p>
        </p:txBody>
      </p:sp>
    </p:spTree>
    <p:extLst>
      <p:ext uri="{BB962C8B-B14F-4D97-AF65-F5344CB8AC3E}">
        <p14:creationId xmlns:p14="http://schemas.microsoft.com/office/powerpoint/2010/main" val="1848475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EA83-8039-848F-D9F1-AA5F298CB42C}"/>
            </a:ext>
          </a:extLst>
        </p:cNvPr>
        <p:cNvGrpSpPr/>
        <p:nvPr/>
      </p:nvGrpSpPr>
      <p:grpSpPr>
        <a:xfrm>
          <a:off x="0" y="0"/>
          <a:ext cx="0" cy="0"/>
          <a:chOff x="0" y="0"/>
          <a:chExt cx="0" cy="0"/>
        </a:xfrm>
      </p:grpSpPr>
      <p:sp>
        <p:nvSpPr>
          <p:cNvPr id="11" name="Título 10">
            <a:extLst>
              <a:ext uri="{FF2B5EF4-FFF2-40B4-BE49-F238E27FC236}">
                <a16:creationId xmlns:a16="http://schemas.microsoft.com/office/drawing/2014/main" id="{CCDFC2ED-F4EF-91B0-0A86-E1E5216ADD9E}"/>
              </a:ext>
            </a:extLst>
          </p:cNvPr>
          <p:cNvSpPr>
            <a:spLocks noGrp="1"/>
          </p:cNvSpPr>
          <p:nvPr>
            <p:ph type="title"/>
          </p:nvPr>
        </p:nvSpPr>
        <p:spPr>
          <a:xfrm>
            <a:off x="838200" y="365125"/>
            <a:ext cx="10515600" cy="866977"/>
          </a:xfrm>
        </p:spPr>
        <p:txBody>
          <a:bodyPr rtlCol="0" anchor="ctr">
            <a:normAutofit/>
          </a:bodyPr>
          <a:lstStyle/>
          <a:p>
            <a:pPr rtl="0"/>
            <a:r>
              <a:rPr lang="es-MX" b="1" dirty="0"/>
              <a:t>Costo</a:t>
            </a:r>
          </a:p>
        </p:txBody>
      </p:sp>
      <p:sp>
        <p:nvSpPr>
          <p:cNvPr id="2" name="Marcador de fecha 1">
            <a:extLst>
              <a:ext uri="{FF2B5EF4-FFF2-40B4-BE49-F238E27FC236}">
                <a16:creationId xmlns:a16="http://schemas.microsoft.com/office/drawing/2014/main" id="{814961CE-BC01-D37D-F226-115DB0BC64EA}"/>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3" name="Marcador de pie de página 2">
            <a:extLst>
              <a:ext uri="{FF2B5EF4-FFF2-40B4-BE49-F238E27FC236}">
                <a16:creationId xmlns:a16="http://schemas.microsoft.com/office/drawing/2014/main" id="{4EA339F0-81FB-DCE5-680F-7E540D3926BD}"/>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0A53E2A2-F906-72C5-9794-DFE7100D0DC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8</a:t>
            </a:fld>
            <a:endParaRPr lang="es-MX" dirty="0"/>
          </a:p>
        </p:txBody>
      </p:sp>
      <p:graphicFrame>
        <p:nvGraphicFramePr>
          <p:cNvPr id="17" name="Tabla 9">
            <a:extLst>
              <a:ext uri="{FF2B5EF4-FFF2-40B4-BE49-F238E27FC236}">
                <a16:creationId xmlns:a16="http://schemas.microsoft.com/office/drawing/2014/main" id="{C98CE520-E7F6-85CF-C9B6-35E5BF8981C4}"/>
              </a:ext>
            </a:extLst>
          </p:cNvPr>
          <p:cNvGraphicFramePr>
            <a:graphicFrameLocks noGrp="1"/>
          </p:cNvGraphicFramePr>
          <p:nvPr>
            <p:ph type="dgm" sz="quarter" idx="15"/>
            <p:extLst>
              <p:ext uri="{D42A27DB-BD31-4B8C-83A1-F6EECF244321}">
                <p14:modId xmlns:p14="http://schemas.microsoft.com/office/powerpoint/2010/main" val="2894026993"/>
              </p:ext>
            </p:extLst>
          </p:nvPr>
        </p:nvGraphicFramePr>
        <p:xfrm>
          <a:off x="373225" y="1632186"/>
          <a:ext cx="11439330" cy="2081482"/>
        </p:xfrm>
        <a:graphic>
          <a:graphicData uri="http://schemas.openxmlformats.org/drawingml/2006/table">
            <a:tbl>
              <a:tblPr firstRow="1" lastRow="1" bandRow="1">
                <a:tableStyleId>{5C22544A-7EE6-4342-B048-85BDC9FD1C3A}</a:tableStyleId>
              </a:tblPr>
              <a:tblGrid>
                <a:gridCol w="9933164">
                  <a:extLst>
                    <a:ext uri="{9D8B030D-6E8A-4147-A177-3AD203B41FA5}">
                      <a16:colId xmlns:a16="http://schemas.microsoft.com/office/drawing/2014/main" val="3446012419"/>
                    </a:ext>
                  </a:extLst>
                </a:gridCol>
                <a:gridCol w="1506166">
                  <a:extLst>
                    <a:ext uri="{9D8B030D-6E8A-4147-A177-3AD203B41FA5}">
                      <a16:colId xmlns:a16="http://schemas.microsoft.com/office/drawing/2014/main" val="4052646397"/>
                    </a:ext>
                  </a:extLst>
                </a:gridCol>
              </a:tblGrid>
              <a:tr h="547367">
                <a:tc>
                  <a:txBody>
                    <a:bodyPr/>
                    <a:lstStyle/>
                    <a:p>
                      <a:pPr algn="l" rtl="0" fontAlgn="b"/>
                      <a:r>
                        <a:rPr lang="es-MX" sz="1600" b="1" i="0" u="none" strike="noStrike" noProof="0" dirty="0">
                          <a:solidFill>
                            <a:schemeClr val="tx1"/>
                          </a:solidFill>
                          <a:effectLst/>
                          <a:latin typeface="+mn-lt"/>
                        </a:rPr>
                        <a:t>Cobertura mensual +</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90000"/>
                      </a:schemeClr>
                    </a:solidFill>
                  </a:tcPr>
                </a:tc>
                <a:tc>
                  <a:txBody>
                    <a:bodyPr/>
                    <a:lstStyle/>
                    <a:p>
                      <a:pPr algn="r" rtl="0" fontAlgn="b"/>
                      <a:r>
                        <a:rPr lang="es-MX" sz="1400" b="1" i="0" u="none" strike="noStrike" noProof="0" dirty="0">
                          <a:solidFill>
                            <a:schemeClr val="tx1"/>
                          </a:solidFill>
                          <a:effectLst/>
                          <a:latin typeface="+mn-lt"/>
                        </a:rPr>
                        <a:t>$800 USD x mes</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663174250"/>
                  </a:ext>
                </a:extLst>
              </a:tr>
              <a:tr h="1534115">
                <a:tc>
                  <a:txBody>
                    <a:bodyPr/>
                    <a:lstStyle/>
                    <a:p>
                      <a:pPr lvl="0" algn="l" rtl="0" fontAlgn="b"/>
                      <a:r>
                        <a:rPr lang="es-MX" sz="1350" b="0" u="none" strike="noStrike" noProof="0" dirty="0">
                          <a:solidFill>
                            <a:schemeClr val="tx1"/>
                          </a:solidFill>
                          <a:effectLst/>
                        </a:rPr>
                        <a:t>Sitio web personalizable </a:t>
                      </a:r>
                    </a:p>
                    <a:p>
                      <a:pPr lvl="0" algn="l" rtl="0" fontAlgn="b"/>
                      <a:r>
                        <a:rPr lang="es-MX" sz="1350" b="0" u="none" strike="noStrike" noProof="0" dirty="0">
                          <a:solidFill>
                            <a:schemeClr val="tx1"/>
                          </a:solidFill>
                          <a:effectLst/>
                        </a:rPr>
                        <a:t>Monitoreo de cobertura mediática 24/7 de temas de interés para el cliente</a:t>
                      </a:r>
                    </a:p>
                    <a:p>
                      <a:pPr lvl="0" algn="l" rtl="0" fontAlgn="b"/>
                      <a:r>
                        <a:rPr lang="es-MX" altLang="es-MX" sz="1350" b="0" u="none" strike="noStrike" kern="1200" dirty="0">
                          <a:solidFill>
                            <a:schemeClr val="tx1"/>
                          </a:solidFill>
                          <a:effectLst/>
                          <a:latin typeface="+mn-lt"/>
                          <a:ea typeface="+mn-ea"/>
                          <a:cs typeface="+mn-cs"/>
                        </a:rPr>
                        <a:t>Sistema de resumen automatizado</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en tiempo real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350" b="0" i="0" u="none" strike="noStrike" kern="1200" dirty="0">
                          <a:solidFill>
                            <a:schemeClr val="tx1"/>
                          </a:solidFill>
                          <a:effectLst/>
                          <a:latin typeface="+mn-lt"/>
                          <a:ea typeface="+mn-ea"/>
                          <a:cs typeface="+mn-cs"/>
                        </a:rPr>
                        <a:t>Reporte semanal de análisis que profundiza en desarrollos mediáticos de interés y ofrece una lectura estratégica de la situación</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0773105"/>
                  </a:ext>
                </a:extLst>
              </a:tr>
            </a:tbl>
          </a:graphicData>
        </a:graphic>
      </p:graphicFrame>
    </p:spTree>
    <p:extLst>
      <p:ext uri="{BB962C8B-B14F-4D97-AF65-F5344CB8AC3E}">
        <p14:creationId xmlns:p14="http://schemas.microsoft.com/office/powerpoint/2010/main" val="2537957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s-MX" noProof="0" dirty="0"/>
              <a:t>GRACIAS</a:t>
            </a:r>
          </a:p>
        </p:txBody>
      </p:sp>
      <p:sp>
        <p:nvSpPr>
          <p:cNvPr id="3" name="Marcador de posición de contenido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s-MX" noProof="0" dirty="0"/>
              <a:t>Luis Daniel Santiago Vidargas</a:t>
            </a:r>
          </a:p>
          <a:p>
            <a:pPr rtl="0"/>
            <a:r>
              <a:rPr lang="es-MX" noProof="0" dirty="0"/>
              <a:t>+52 55 41 86 17 61</a:t>
            </a:r>
          </a:p>
          <a:p>
            <a:pPr rtl="0"/>
            <a:r>
              <a:rPr lang="es-MX" noProof="0" dirty="0"/>
              <a:t>medios.monitoreo.plus@gmail.com</a:t>
            </a:r>
          </a:p>
        </p:txBody>
      </p:sp>
      <p:sp>
        <p:nvSpPr>
          <p:cNvPr id="6" name="Marcador de número de diapositiva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s-MX" noProof="0" smtClean="0"/>
              <a:pPr rtl="0"/>
              <a:t>9</a:t>
            </a:fld>
            <a:endParaRPr lang="es-MX" noProof="0" dirty="0"/>
          </a:p>
        </p:txBody>
      </p:sp>
      <p:sp>
        <p:nvSpPr>
          <p:cNvPr id="7" name="Marcador de pie de página 2">
            <a:extLst>
              <a:ext uri="{FF2B5EF4-FFF2-40B4-BE49-F238E27FC236}">
                <a16:creationId xmlns:a16="http://schemas.microsoft.com/office/drawing/2014/main" id="{405C5E0C-48DE-4427-7E5B-80C69C9E6D8A}"/>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8" name="Marcador de fecha 1">
            <a:extLst>
              <a:ext uri="{FF2B5EF4-FFF2-40B4-BE49-F238E27FC236}">
                <a16:creationId xmlns:a16="http://schemas.microsoft.com/office/drawing/2014/main" id="{59DA279A-99BC-73BE-3D17-EC50F1DC4BA8}"/>
              </a:ext>
            </a:extLst>
          </p:cNvPr>
          <p:cNvSpPr>
            <a:spLocks noGrp="1"/>
          </p:cNvSpPr>
          <p:nvPr>
            <p:ph type="dt" sz="half" idx="10"/>
          </p:nvPr>
        </p:nvSpPr>
        <p:spPr>
          <a:xfrm>
            <a:off x="838200" y="6356350"/>
            <a:ext cx="2743200" cy="365125"/>
          </a:xfrm>
        </p:spPr>
        <p:txBody>
          <a:bodyPr rtlCol="0"/>
          <a:lstStyle/>
          <a:p>
            <a:pPr rtl="0"/>
            <a:r>
              <a:rPr lang="es-MX" dirty="0"/>
              <a:t>2026</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9_TF56180624_Win32" id="{DA94138B-457B-4604-9749-588237BB90A3}" vid="{46A1F4DD-802B-4175-966B-E16743FC789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http://schemas.microsoft.com/office/2006/documentManagement/types"/>
    <ds:schemaRef ds:uri="http://schemas.openxmlformats.org/package/2006/metadata/core-properties"/>
    <ds:schemaRef ds:uri="230e9df3-be65-4c73-a93b-d1236ebd677e"/>
    <ds:schemaRef ds:uri="http://purl.org/dc/terms/"/>
    <ds:schemaRef ds:uri="http://schemas.microsoft.com/office/infopath/2007/PartnerControls"/>
    <ds:schemaRef ds:uri="http://schemas.microsoft.com/sharepoint/v3"/>
    <ds:schemaRef ds:uri="16c05727-aa75-4e4a-9b5f-8a80a1165891"/>
    <ds:schemaRef ds:uri="http://purl.org/dc/elements/1.1/"/>
    <ds:schemaRef ds:uri="http://purl.org/dc/dcmitype/"/>
    <ds:schemaRef ds:uri="71af3243-3dd4-4a8d-8c0d-dd76da1f02a5"/>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5033</TotalTime>
  <Words>423</Words>
  <Application>Microsoft Office PowerPoint</Application>
  <PresentationFormat>Panorámica</PresentationFormat>
  <Paragraphs>60</Paragraphs>
  <Slides>9</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Tenorite</vt:lpstr>
      <vt:lpstr>Una sola línea</vt:lpstr>
      <vt:lpstr>Monitoreo + </vt:lpstr>
      <vt:lpstr>QUIÉN Soy</vt:lpstr>
      <vt:lpstr>Mi especialidad: Convertir datos en información accionable para tomar decisiones</vt:lpstr>
      <vt:lpstr>La herramienta</vt:lpstr>
      <vt:lpstr>Presentación de PowerPoint</vt:lpstr>
      <vt:lpstr>Presentación de PowerPoint</vt:lpstr>
      <vt:lpstr>Presentación de PowerPoint</vt:lpstr>
      <vt:lpstr>Costo</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Daniel Santiago Vidargas</dc:creator>
  <cp:lastModifiedBy>Luis Daniel Santiago Vidargas</cp:lastModifiedBy>
  <cp:revision>26</cp:revision>
  <dcterms:created xsi:type="dcterms:W3CDTF">2025-01-22T17:57:52Z</dcterms:created>
  <dcterms:modified xsi:type="dcterms:W3CDTF">2026-09-21T22:34:10Z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