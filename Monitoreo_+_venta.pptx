
<file path=[Content_Types].xml><?xml version="1.0" encoding="utf-8"?>
<Types xmlns="http://schemas.openxmlformats.org/package/2006/content-types">
  <Default Extension="org&amp;utm_campaign=index&amp;utm_content=original" ContentType="image/pn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6"/>
  </p:notesMasterIdLst>
  <p:handoutMasterIdLst>
    <p:handoutMasterId r:id="rId17"/>
  </p:handoutMasterIdLst>
  <p:sldIdLst>
    <p:sldId id="256" r:id="rId5"/>
    <p:sldId id="315" r:id="rId6"/>
    <p:sldId id="301" r:id="rId7"/>
    <p:sldId id="380" r:id="rId8"/>
    <p:sldId id="381" r:id="rId9"/>
    <p:sldId id="382" r:id="rId10"/>
    <p:sldId id="378" r:id="rId11"/>
    <p:sldId id="379" r:id="rId12"/>
    <p:sldId id="312" r:id="rId13"/>
    <p:sldId id="277" r:id="rId14"/>
    <p:sldId id="276" r:id="rId15"/>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3"/>
    <a:srgbClr val="E9E6D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01B0BA1-89F5-4C40-BE23-CE8523D4A38C}" type="datetime1">
              <a:rPr lang="es-MX" smtClean="0"/>
              <a:t>23/09/2026</a:t>
            </a:fld>
            <a:endParaRPr lang="es-MX"/>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MX" smtClean="0"/>
              <a:t>‹Nº›</a:t>
            </a:fld>
            <a:endParaRPr lang="es-MX"/>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ADEE56-102C-4AEE-A573-4F3D1550F9E4}" type="datetime1">
              <a:rPr lang="es-MX" smtClean="0"/>
              <a:pPr/>
              <a:t>23/09/2026</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MX" noProof="0" smtClean="0"/>
              <a:t>‹Nº›</a:t>
            </a:fld>
            <a:endParaRPr lang="es-MX"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a:t>
            </a:fld>
            <a:endParaRPr lang="es-MX" dirty="0"/>
          </a:p>
        </p:txBody>
      </p:sp>
    </p:spTree>
    <p:extLst>
      <p:ext uri="{BB962C8B-B14F-4D97-AF65-F5344CB8AC3E}">
        <p14:creationId xmlns:p14="http://schemas.microsoft.com/office/powerpoint/2010/main" val="270935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7FF4-E4F2-C7C6-1091-14BD93B2EB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2E29AF-AD3F-9F9D-94CF-6C5B7140BE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21E01C7-BB6F-8DF7-3946-0BCFC4451A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EF63061-E2D4-386A-2263-2B11AF0A1420}"/>
              </a:ext>
            </a:extLst>
          </p:cNvPr>
          <p:cNvSpPr>
            <a:spLocks noGrp="1"/>
          </p:cNvSpPr>
          <p:nvPr>
            <p:ph type="sldNum" sz="quarter" idx="5"/>
          </p:nvPr>
        </p:nvSpPr>
        <p:spPr/>
        <p:txBody>
          <a:bodyPr/>
          <a:lstStyle/>
          <a:p>
            <a:pPr rtl="0"/>
            <a:fld id="{D4B9A9E5-4F7F-4A7D-9DE1-899232329269}" type="slidenum">
              <a:rPr lang="es-MX" smtClean="0"/>
              <a:t>3</a:t>
            </a:fld>
            <a:endParaRPr lang="es-MX" dirty="0"/>
          </a:p>
        </p:txBody>
      </p:sp>
    </p:spTree>
    <p:extLst>
      <p:ext uri="{BB962C8B-B14F-4D97-AF65-F5344CB8AC3E}">
        <p14:creationId xmlns:p14="http://schemas.microsoft.com/office/powerpoint/2010/main" val="401541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B27F-E208-F627-4204-E825F8463A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072478-AFFC-C3C8-412E-223FBF8568AE}"/>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EB89ADC-166B-D836-1625-88B9A52EA7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8DC3235-8815-A2AF-5587-DDAC5905118E}"/>
              </a:ext>
            </a:extLst>
          </p:cNvPr>
          <p:cNvSpPr>
            <a:spLocks noGrp="1"/>
          </p:cNvSpPr>
          <p:nvPr>
            <p:ph type="sldNum" sz="quarter" idx="5"/>
          </p:nvPr>
        </p:nvSpPr>
        <p:spPr/>
        <p:txBody>
          <a:bodyPr/>
          <a:lstStyle/>
          <a:p>
            <a:pPr rtl="0"/>
            <a:fld id="{D4B9A9E5-4F7F-4A7D-9DE1-899232329269}" type="slidenum">
              <a:rPr lang="es-MX" smtClean="0"/>
              <a:t>4</a:t>
            </a:fld>
            <a:endParaRPr lang="es-MX" dirty="0"/>
          </a:p>
        </p:txBody>
      </p:sp>
    </p:spTree>
    <p:extLst>
      <p:ext uri="{BB962C8B-B14F-4D97-AF65-F5344CB8AC3E}">
        <p14:creationId xmlns:p14="http://schemas.microsoft.com/office/powerpoint/2010/main" val="964496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5363-C90A-E069-E26F-45F29DF841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9538E2-6B44-2D5F-B1FF-80CF44A025A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AFFC808-ED48-DC9E-3FBF-F382090A330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9C82E95-20A3-7610-4920-291732C9C794}"/>
              </a:ext>
            </a:extLst>
          </p:cNvPr>
          <p:cNvSpPr>
            <a:spLocks noGrp="1"/>
          </p:cNvSpPr>
          <p:nvPr>
            <p:ph type="sldNum" sz="quarter" idx="5"/>
          </p:nvPr>
        </p:nvSpPr>
        <p:spPr/>
        <p:txBody>
          <a:bodyPr/>
          <a:lstStyle/>
          <a:p>
            <a:pPr rtl="0"/>
            <a:fld id="{D4B9A9E5-4F7F-4A7D-9DE1-899232329269}" type="slidenum">
              <a:rPr lang="es-MX" smtClean="0"/>
              <a:t>5</a:t>
            </a:fld>
            <a:endParaRPr lang="es-MX" dirty="0"/>
          </a:p>
        </p:txBody>
      </p:sp>
    </p:spTree>
    <p:extLst>
      <p:ext uri="{BB962C8B-B14F-4D97-AF65-F5344CB8AC3E}">
        <p14:creationId xmlns:p14="http://schemas.microsoft.com/office/powerpoint/2010/main" val="393918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E365-29C4-DE31-B905-01F491EB17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68B948-CB34-81D9-730C-D22DED4A69C5}"/>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EE983E71-E686-E913-BEFE-9D0AF0DE8F4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44B1754-CD61-B8CB-B464-9080D7A3288D}"/>
              </a:ext>
            </a:extLst>
          </p:cNvPr>
          <p:cNvSpPr>
            <a:spLocks noGrp="1"/>
          </p:cNvSpPr>
          <p:nvPr>
            <p:ph type="sldNum" sz="quarter" idx="5"/>
          </p:nvPr>
        </p:nvSpPr>
        <p:spPr/>
        <p:txBody>
          <a:bodyPr/>
          <a:lstStyle/>
          <a:p>
            <a:pPr rtl="0"/>
            <a:fld id="{D4B9A9E5-4F7F-4A7D-9DE1-899232329269}" type="slidenum">
              <a:rPr lang="es-MX" smtClean="0"/>
              <a:t>6</a:t>
            </a:fld>
            <a:endParaRPr lang="es-MX" dirty="0"/>
          </a:p>
        </p:txBody>
      </p:sp>
    </p:spTree>
    <p:extLst>
      <p:ext uri="{BB962C8B-B14F-4D97-AF65-F5344CB8AC3E}">
        <p14:creationId xmlns:p14="http://schemas.microsoft.com/office/powerpoint/2010/main" val="2579451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61A69-93A3-0EB8-4029-D0A642F265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0CDE29-A350-CFE5-E4B5-B6B2EB1067F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BE9311F-67D8-C019-FB83-555415669C7B}"/>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1764E2FB-1E2A-50B1-CD24-1FA52F97A1FD}"/>
              </a:ext>
            </a:extLst>
          </p:cNvPr>
          <p:cNvSpPr>
            <a:spLocks noGrp="1"/>
          </p:cNvSpPr>
          <p:nvPr>
            <p:ph type="sldNum" sz="quarter" idx="5"/>
          </p:nvPr>
        </p:nvSpPr>
        <p:spPr/>
        <p:txBody>
          <a:bodyPr/>
          <a:lstStyle/>
          <a:p>
            <a:pPr rtl="0"/>
            <a:fld id="{D4B9A9E5-4F7F-4A7D-9DE1-899232329269}" type="slidenum">
              <a:rPr lang="es-MX" smtClean="0"/>
              <a:t>7</a:t>
            </a:fld>
            <a:endParaRPr lang="es-MX"/>
          </a:p>
        </p:txBody>
      </p:sp>
    </p:spTree>
    <p:extLst>
      <p:ext uri="{BB962C8B-B14F-4D97-AF65-F5344CB8AC3E}">
        <p14:creationId xmlns:p14="http://schemas.microsoft.com/office/powerpoint/2010/main" val="743431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62ACB-5885-6F2C-5223-6C928A38F2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91DC9A-7FDA-5C88-777C-BFD768921A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03AE620-4BEA-3810-F4D5-0C1945A9F693}"/>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2759D39A-3159-6478-F2FE-F90C53581E63}"/>
              </a:ext>
            </a:extLst>
          </p:cNvPr>
          <p:cNvSpPr>
            <a:spLocks noGrp="1"/>
          </p:cNvSpPr>
          <p:nvPr>
            <p:ph type="sldNum" sz="quarter" idx="5"/>
          </p:nvPr>
        </p:nvSpPr>
        <p:spPr/>
        <p:txBody>
          <a:bodyPr/>
          <a:lstStyle/>
          <a:p>
            <a:pPr rtl="0"/>
            <a:fld id="{D4B9A9E5-4F7F-4A7D-9DE1-899232329269}" type="slidenum">
              <a:rPr lang="es-MX" smtClean="0"/>
              <a:t>8</a:t>
            </a:fld>
            <a:endParaRPr lang="es-MX"/>
          </a:p>
        </p:txBody>
      </p:sp>
    </p:spTree>
    <p:extLst>
      <p:ext uri="{BB962C8B-B14F-4D97-AF65-F5344CB8AC3E}">
        <p14:creationId xmlns:p14="http://schemas.microsoft.com/office/powerpoint/2010/main" val="784095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AE8-1336-7E77-E8CD-F52F3E6DC4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FCFFE2-5B15-69D0-CB03-DAE8FF8E9D1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D2FFB45A-8058-348E-974E-AA326D9FD3C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FD7CE977-4D9A-26F2-1D17-A31BAC76253F}"/>
              </a:ext>
            </a:extLst>
          </p:cNvPr>
          <p:cNvSpPr>
            <a:spLocks noGrp="1"/>
          </p:cNvSpPr>
          <p:nvPr>
            <p:ph type="sldNum" sz="quarter" idx="5"/>
          </p:nvPr>
        </p:nvSpPr>
        <p:spPr/>
        <p:txBody>
          <a:bodyPr/>
          <a:lstStyle/>
          <a:p>
            <a:pPr rtl="0"/>
            <a:fld id="{D4B9A9E5-4F7F-4A7D-9DE1-899232329269}" type="slidenum">
              <a:rPr lang="es-MX" smtClean="0"/>
              <a:t>9</a:t>
            </a:fld>
            <a:endParaRPr lang="es-MX"/>
          </a:p>
        </p:txBody>
      </p:sp>
    </p:spTree>
    <p:extLst>
      <p:ext uri="{BB962C8B-B14F-4D97-AF65-F5344CB8AC3E}">
        <p14:creationId xmlns:p14="http://schemas.microsoft.com/office/powerpoint/2010/main" val="655945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10</a:t>
            </a:fld>
            <a:endParaRPr lang="es-MX" dirty="0"/>
          </a:p>
        </p:txBody>
      </p:sp>
    </p:spTree>
    <p:extLst>
      <p:ext uri="{BB962C8B-B14F-4D97-AF65-F5344CB8AC3E}">
        <p14:creationId xmlns:p14="http://schemas.microsoft.com/office/powerpoint/2010/main" val="2804650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D4B9A9E5-4F7F-4A7D-9DE1-899232329269}" type="slidenum">
              <a:rPr lang="es-MX" smtClean="0"/>
              <a:t>11</a:t>
            </a:fld>
            <a:endParaRPr lang="es-MX"/>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ítulo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es-MX" noProof="0"/>
              <a:t>HAGA CLIC PARA EDITAR EL ESTILO DEL TÍTULO DEL PATRÓN</a:t>
            </a:r>
          </a:p>
        </p:txBody>
      </p:sp>
      <p:sp>
        <p:nvSpPr>
          <p:cNvPr id="3" name="Marcador de contenido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s-MX" noProof="0"/>
              <a:t>20XX</a:t>
            </a:r>
          </a:p>
        </p:txBody>
      </p:sp>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osición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es-MX" noProof="0"/>
              <a:t>Plataforma de presentación</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MX" noProof="0" smtClean="0"/>
              <a:t>‹Nº›</a:t>
            </a:fld>
            <a:endParaRPr lang="es-MX"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es-MX" noProof="0"/>
              <a:t>HAZ CLIC PARA EDITAR EL ESTILO DEL TÍTULO DEL PATRÓN</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19" name="Marcador de posición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es contenid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6" name="Marcador de posición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os objet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38" name="Marcador de posición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es-MX" noProof="0"/>
              <a:t>Haz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Plataforma de presentación</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posición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s-MX" noProof="0" smtClean="0"/>
              <a:t>‹Nº›</a:t>
            </a:fld>
            <a:endParaRPr lang="es-MX"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posición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posición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posición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Haz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9355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íne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s-MX" noProof="0"/>
              <a:t>Presentación de lanzamiento</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832993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Financiación">
    <p:bg>
      <p:bgPr>
        <a:solidFill>
          <a:schemeClr val="bg1"/>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contenido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contenido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contenido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contenido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1788326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s-MX"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 id="2147483701" r:id="rId20"/>
    <p:sldLayoutId id="2147483702"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1.xml"/><Relationship Id="rId5" Type="http://schemas.openxmlformats.org/officeDocument/2006/relationships/image" Target="../media/image21.png"/><Relationship Id="rId4" Type="http://schemas.openxmlformats.org/officeDocument/2006/relationships/image" Target="../media/image20.org&amp;utm_campaign=index&amp;utm_content=origi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s-MX" noProof="0" dirty="0"/>
              <a:t>Monitoreo </a:t>
            </a:r>
            <a:r>
              <a:rPr lang="es-MX" b="1" noProof="0" dirty="0"/>
              <a:t>+</a:t>
            </a:r>
            <a:r>
              <a:rPr lang="es-MX" noProof="0" dirty="0"/>
              <a:t> </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6096000" y="5553039"/>
            <a:ext cx="3918858" cy="396660"/>
          </a:xfrm>
        </p:spPr>
        <p:txBody>
          <a:bodyPr rtlCol="0">
            <a:normAutofit fontScale="77500" lnSpcReduction="20000"/>
          </a:bodyPr>
          <a:lstStyle/>
          <a:p>
            <a:pPr algn="ctr"/>
            <a:r>
              <a:rPr lang="es-MX" i="1" dirty="0"/>
              <a:t>Inteligencia informativa para saber qué está pasando, qué importa y qué cambió.</a:t>
            </a:r>
            <a:endParaRPr lang="es-MX"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022C9-D247-3827-71DA-D3778CA0E298}"/>
              </a:ext>
            </a:extLst>
          </p:cNvPr>
          <p:cNvSpPr>
            <a:spLocks noGrp="1"/>
          </p:cNvSpPr>
          <p:nvPr>
            <p:ph type="title"/>
          </p:nvPr>
        </p:nvSpPr>
        <p:spPr/>
        <p:txBody>
          <a:bodyPr anchor="ctr"/>
          <a:lstStyle/>
          <a:p>
            <a:pPr algn="ctr"/>
            <a:r>
              <a:rPr lang="es-MX" b="1" dirty="0"/>
              <a:t>El Problema</a:t>
            </a:r>
          </a:p>
        </p:txBody>
      </p:sp>
      <p:sp>
        <p:nvSpPr>
          <p:cNvPr id="3" name="Marcador de contenido 2">
            <a:extLst>
              <a:ext uri="{FF2B5EF4-FFF2-40B4-BE49-F238E27FC236}">
                <a16:creationId xmlns:a16="http://schemas.microsoft.com/office/drawing/2014/main" id="{DB183E17-56AC-A078-AD0E-7E38C3911DDA}"/>
              </a:ext>
            </a:extLst>
          </p:cNvPr>
          <p:cNvSpPr>
            <a:spLocks noGrp="1"/>
          </p:cNvSpPr>
          <p:nvPr>
            <p:ph idx="1"/>
          </p:nvPr>
        </p:nvSpPr>
        <p:spPr/>
        <p:txBody>
          <a:bodyPr anchor="ctr"/>
          <a:lstStyle/>
          <a:p>
            <a:pPr algn="just"/>
            <a:r>
              <a:rPr lang="es-MX" dirty="0"/>
              <a:t>Una persona pública, organización o empresa puede seguir decenas de nombres, temas, instituciones y conversaciones. </a:t>
            </a:r>
          </a:p>
          <a:p>
            <a:pPr algn="just"/>
            <a:r>
              <a:rPr lang="es-MX" dirty="0"/>
              <a:t>El reto no es recibir más enlaces: </a:t>
            </a:r>
            <a:r>
              <a:rPr lang="es-MX" b="1" dirty="0"/>
              <a:t>es separar rápidamente señal de ruido</a:t>
            </a:r>
            <a:r>
              <a:rPr lang="es-MX" dirty="0"/>
              <a:t>, evitar repeticiones y detectar los desarrollos que sí requieren atención.</a:t>
            </a:r>
          </a:p>
        </p:txBody>
      </p:sp>
      <p:sp>
        <p:nvSpPr>
          <p:cNvPr id="4" name="Marcador de fecha 3">
            <a:extLst>
              <a:ext uri="{FF2B5EF4-FFF2-40B4-BE49-F238E27FC236}">
                <a16:creationId xmlns:a16="http://schemas.microsoft.com/office/drawing/2014/main" id="{83BAD7BA-45F6-BC38-934A-5B82234A4AF2}"/>
              </a:ext>
            </a:extLst>
          </p:cNvPr>
          <p:cNvSpPr>
            <a:spLocks noGrp="1"/>
          </p:cNvSpPr>
          <p:nvPr>
            <p:ph type="dt" sz="half" idx="10"/>
          </p:nvPr>
        </p:nvSpPr>
        <p:spPr/>
        <p:txBody>
          <a:bodyPr/>
          <a:lstStyle/>
          <a:p>
            <a:pPr rtl="0"/>
            <a:r>
              <a:rPr lang="es-MX" noProof="0" dirty="0"/>
              <a:t>2026</a:t>
            </a:r>
          </a:p>
        </p:txBody>
      </p:sp>
      <p:sp>
        <p:nvSpPr>
          <p:cNvPr id="5" name="Marcador de pie de página 4">
            <a:extLst>
              <a:ext uri="{FF2B5EF4-FFF2-40B4-BE49-F238E27FC236}">
                <a16:creationId xmlns:a16="http://schemas.microsoft.com/office/drawing/2014/main" id="{01309026-093C-A6F6-E3A9-222535BB7027}"/>
              </a:ext>
            </a:extLst>
          </p:cNvPr>
          <p:cNvSpPr>
            <a:spLocks noGrp="1"/>
          </p:cNvSpPr>
          <p:nvPr>
            <p:ph type="ftr" sz="quarter" idx="11"/>
          </p:nvPr>
        </p:nvSpPr>
        <p:spPr/>
        <p:txBody>
          <a:bodyPr/>
          <a:lstStyle/>
          <a:p>
            <a:r>
              <a:rPr lang="es-MX" dirty="0"/>
              <a:t>Luis Daniel Santiago Vidargas – Monitoreo +</a:t>
            </a:r>
          </a:p>
        </p:txBody>
      </p:sp>
      <p:sp>
        <p:nvSpPr>
          <p:cNvPr id="6" name="Marcador de número de diapositiva 5">
            <a:extLst>
              <a:ext uri="{FF2B5EF4-FFF2-40B4-BE49-F238E27FC236}">
                <a16:creationId xmlns:a16="http://schemas.microsoft.com/office/drawing/2014/main" id="{457B61CA-EB08-9413-0F01-5FF954C15BEF}"/>
              </a:ext>
            </a:extLst>
          </p:cNvPr>
          <p:cNvSpPr>
            <a:spLocks noGrp="1"/>
          </p:cNvSpPr>
          <p:nvPr>
            <p:ph type="sldNum" sz="quarter" idx="12"/>
          </p:nvPr>
        </p:nvSpPr>
        <p:spPr/>
        <p:txBody>
          <a:bodyPr/>
          <a:lstStyle/>
          <a:p>
            <a:pPr rtl="0"/>
            <a:fld id="{B5CEABB6-07DC-46E8-9B57-56EC44A396E5}" type="slidenum">
              <a:rPr lang="es-MX" noProof="0" smtClean="0"/>
              <a:t>2</a:t>
            </a:fld>
            <a:endParaRPr lang="es-MX" noProof="0"/>
          </a:p>
        </p:txBody>
      </p:sp>
    </p:spTree>
    <p:extLst>
      <p:ext uri="{BB962C8B-B14F-4D97-AF65-F5344CB8AC3E}">
        <p14:creationId xmlns:p14="http://schemas.microsoft.com/office/powerpoint/2010/main" val="360706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03A7-7DC1-8477-D65D-0703C3FF8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7379D2-7288-AF11-106C-5960673677D3}"/>
              </a:ext>
            </a:extLst>
          </p:cNvPr>
          <p:cNvSpPr>
            <a:spLocks noGrp="1"/>
          </p:cNvSpPr>
          <p:nvPr>
            <p:ph type="title"/>
          </p:nvPr>
        </p:nvSpPr>
        <p:spPr>
          <a:xfrm>
            <a:off x="1885156" y="2674324"/>
            <a:ext cx="8421688" cy="1325563"/>
          </a:xfrm>
        </p:spPr>
        <p:txBody>
          <a:bodyPr rtlCol="0"/>
          <a:lstStyle/>
          <a:p>
            <a:pPr rtl="0"/>
            <a:r>
              <a:rPr lang="es-MX" b="1" noProof="0" dirty="0"/>
              <a:t>La herramienta</a:t>
            </a:r>
          </a:p>
        </p:txBody>
      </p:sp>
      <p:sp>
        <p:nvSpPr>
          <p:cNvPr id="3" name="Marcador de fecha 2">
            <a:extLst>
              <a:ext uri="{FF2B5EF4-FFF2-40B4-BE49-F238E27FC236}">
                <a16:creationId xmlns:a16="http://schemas.microsoft.com/office/drawing/2014/main" id="{06A61B0F-535B-5D4C-2CA0-8C96CDFF8D93}"/>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96B48885-0EA3-D615-E866-C2D7AC9C2798}"/>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3729AD4-9328-91AF-86C3-DD94A35D830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3</a:t>
            </a:fld>
            <a:endParaRPr lang="es-MX" noProof="0" dirty="0"/>
          </a:p>
        </p:txBody>
      </p:sp>
    </p:spTree>
    <p:extLst>
      <p:ext uri="{BB962C8B-B14F-4D97-AF65-F5344CB8AC3E}">
        <p14:creationId xmlns:p14="http://schemas.microsoft.com/office/powerpoint/2010/main" val="2655667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4A25-426D-59AB-907E-6B7AEC3C3AEF}"/>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8B19E93A-A4DE-F97D-E345-A0740B5AB86D}"/>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B858E51F-5337-5982-0328-9F3618259F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894B13C7-8926-C2C8-8A99-6483B7A0EA3F}"/>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4</a:t>
            </a:fld>
            <a:endParaRPr lang="es-MX" noProof="0" dirty="0"/>
          </a:p>
        </p:txBody>
      </p:sp>
      <p:sp>
        <p:nvSpPr>
          <p:cNvPr id="14" name="Marcador de pie de página 3">
            <a:extLst>
              <a:ext uri="{FF2B5EF4-FFF2-40B4-BE49-F238E27FC236}">
                <a16:creationId xmlns:a16="http://schemas.microsoft.com/office/drawing/2014/main" id="{C55E8044-89A4-C642-9854-3CFE47FDED88}"/>
              </a:ext>
            </a:extLst>
          </p:cNvPr>
          <p:cNvSpPr txBox="1">
            <a:spLocks/>
          </p:cNvSpPr>
          <p:nvPr/>
        </p:nvSpPr>
        <p:spPr>
          <a:xfrm>
            <a:off x="205943" y="429208"/>
            <a:ext cx="6281049" cy="559837"/>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Sitio web privado que produce un brief automatizado sobre la cobertura mediática del día, mismo que se actualiza cada vez que cae una nueva noticia y lo almacena para ser consultado cuando sea</a:t>
            </a:r>
          </a:p>
        </p:txBody>
      </p:sp>
      <p:sp>
        <p:nvSpPr>
          <p:cNvPr id="16" name="Marcador de pie de página 3">
            <a:extLst>
              <a:ext uri="{FF2B5EF4-FFF2-40B4-BE49-F238E27FC236}">
                <a16:creationId xmlns:a16="http://schemas.microsoft.com/office/drawing/2014/main" id="{4B9C0A6B-15CB-B505-0388-4E503036E1F6}"/>
              </a:ext>
            </a:extLst>
          </p:cNvPr>
          <p:cNvSpPr txBox="1">
            <a:spLocks/>
          </p:cNvSpPr>
          <p:nvPr/>
        </p:nvSpPr>
        <p:spPr>
          <a:xfrm>
            <a:off x="6486993" y="5495862"/>
            <a:ext cx="5517724"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Trazabilidad, mostrando los titulares utilizados para el brief, acompañado de su respectivo link</a:t>
            </a:r>
          </a:p>
        </p:txBody>
      </p:sp>
      <p:pic>
        <p:nvPicPr>
          <p:cNvPr id="8" name="Imagen 7">
            <a:extLst>
              <a:ext uri="{FF2B5EF4-FFF2-40B4-BE49-F238E27FC236}">
                <a16:creationId xmlns:a16="http://schemas.microsoft.com/office/drawing/2014/main" id="{EEDE2A79-7235-7FAC-3435-CCA6D352A14C}"/>
              </a:ext>
            </a:extLst>
          </p:cNvPr>
          <p:cNvPicPr>
            <a:picLocks noChangeAspect="1"/>
          </p:cNvPicPr>
          <p:nvPr/>
        </p:nvPicPr>
        <p:blipFill>
          <a:blip r:embed="rId3"/>
          <a:stretch>
            <a:fillRect/>
          </a:stretch>
        </p:blipFill>
        <p:spPr>
          <a:xfrm>
            <a:off x="205943" y="1285308"/>
            <a:ext cx="6281050" cy="4575679"/>
          </a:xfrm>
          <a:prstGeom prst="rect">
            <a:avLst/>
          </a:prstGeom>
        </p:spPr>
      </p:pic>
      <p:pic>
        <p:nvPicPr>
          <p:cNvPr id="10" name="Imagen 9">
            <a:extLst>
              <a:ext uri="{FF2B5EF4-FFF2-40B4-BE49-F238E27FC236}">
                <a16:creationId xmlns:a16="http://schemas.microsoft.com/office/drawing/2014/main" id="{51FA6FD2-8FF4-F15D-DE01-26B223507C6F}"/>
              </a:ext>
            </a:extLst>
          </p:cNvPr>
          <p:cNvPicPr>
            <a:picLocks noChangeAspect="1"/>
          </p:cNvPicPr>
          <p:nvPr/>
        </p:nvPicPr>
        <p:blipFill>
          <a:blip r:embed="rId4"/>
          <a:stretch>
            <a:fillRect/>
          </a:stretch>
        </p:blipFill>
        <p:spPr>
          <a:xfrm>
            <a:off x="6486993" y="429208"/>
            <a:ext cx="5517723" cy="4856509"/>
          </a:xfrm>
          <a:prstGeom prst="rect">
            <a:avLst/>
          </a:prstGeom>
        </p:spPr>
      </p:pic>
    </p:spTree>
    <p:extLst>
      <p:ext uri="{BB962C8B-B14F-4D97-AF65-F5344CB8AC3E}">
        <p14:creationId xmlns:p14="http://schemas.microsoft.com/office/powerpoint/2010/main" val="1480187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D8EF-A19C-779A-9FDD-D61340B16289}"/>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E22D16EF-D6CA-0877-C7BC-072FA81FC3E4}"/>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CA0DC166-FBCA-FCED-D115-67EC4075B4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38052480-61D3-77E5-90BB-D16CAD081577}"/>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5</a:t>
            </a:fld>
            <a:endParaRPr lang="es-MX" noProof="0" dirty="0"/>
          </a:p>
        </p:txBody>
      </p:sp>
      <p:sp>
        <p:nvSpPr>
          <p:cNvPr id="14" name="Marcador de pie de página 3">
            <a:extLst>
              <a:ext uri="{FF2B5EF4-FFF2-40B4-BE49-F238E27FC236}">
                <a16:creationId xmlns:a16="http://schemas.microsoft.com/office/drawing/2014/main" id="{87CFF945-BAAF-B51A-5602-69A3B29D4661}"/>
              </a:ext>
            </a:extLst>
          </p:cNvPr>
          <p:cNvSpPr txBox="1">
            <a:spLocks/>
          </p:cNvSpPr>
          <p:nvPr/>
        </p:nvSpPr>
        <p:spPr>
          <a:xfrm>
            <a:off x="87501" y="189485"/>
            <a:ext cx="3856266" cy="513537"/>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Briefs periódicos entregados vía Telegram, resumiendo los temas más relevantes junto con una selección de contenidos.</a:t>
            </a:r>
          </a:p>
        </p:txBody>
      </p:sp>
      <p:sp>
        <p:nvSpPr>
          <p:cNvPr id="16" name="Marcador de pie de página 3">
            <a:extLst>
              <a:ext uri="{FF2B5EF4-FFF2-40B4-BE49-F238E27FC236}">
                <a16:creationId xmlns:a16="http://schemas.microsoft.com/office/drawing/2014/main" id="{268DBD6D-28A9-75DF-5282-3F76707C0AA9}"/>
              </a:ext>
            </a:extLst>
          </p:cNvPr>
          <p:cNvSpPr txBox="1">
            <a:spLocks/>
          </p:cNvSpPr>
          <p:nvPr/>
        </p:nvSpPr>
        <p:spPr>
          <a:xfrm>
            <a:off x="4525036" y="6046621"/>
            <a:ext cx="7185638"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Alertas inmediatas para menciones de actores o temas específicos (en el titular o en el contenido) en medios digitales, X o YouTube.</a:t>
            </a:r>
          </a:p>
        </p:txBody>
      </p:sp>
      <p:pic>
        <p:nvPicPr>
          <p:cNvPr id="6" name="Imagen 5">
            <a:extLst>
              <a:ext uri="{FF2B5EF4-FFF2-40B4-BE49-F238E27FC236}">
                <a16:creationId xmlns:a16="http://schemas.microsoft.com/office/drawing/2014/main" id="{67D267C4-2C99-5DFC-D528-B56CEF06AE8F}"/>
              </a:ext>
            </a:extLst>
          </p:cNvPr>
          <p:cNvPicPr>
            <a:picLocks noChangeAspect="1"/>
          </p:cNvPicPr>
          <p:nvPr/>
        </p:nvPicPr>
        <p:blipFill>
          <a:blip r:embed="rId3"/>
          <a:stretch>
            <a:fillRect/>
          </a:stretch>
        </p:blipFill>
        <p:spPr>
          <a:xfrm>
            <a:off x="4525036" y="189485"/>
            <a:ext cx="3395856" cy="5753708"/>
          </a:xfrm>
          <a:prstGeom prst="rect">
            <a:avLst/>
          </a:prstGeom>
        </p:spPr>
      </p:pic>
      <p:pic>
        <p:nvPicPr>
          <p:cNvPr id="8" name="Imagen 7">
            <a:extLst>
              <a:ext uri="{FF2B5EF4-FFF2-40B4-BE49-F238E27FC236}">
                <a16:creationId xmlns:a16="http://schemas.microsoft.com/office/drawing/2014/main" id="{151B1147-F645-B7DB-2630-8704ACE71B76}"/>
              </a:ext>
            </a:extLst>
          </p:cNvPr>
          <p:cNvPicPr>
            <a:picLocks noChangeAspect="1"/>
          </p:cNvPicPr>
          <p:nvPr/>
        </p:nvPicPr>
        <p:blipFill>
          <a:blip r:embed="rId4"/>
          <a:stretch>
            <a:fillRect/>
          </a:stretch>
        </p:blipFill>
        <p:spPr>
          <a:xfrm>
            <a:off x="110033" y="900534"/>
            <a:ext cx="3856265" cy="5511212"/>
          </a:xfrm>
          <a:prstGeom prst="rect">
            <a:avLst/>
          </a:prstGeom>
        </p:spPr>
      </p:pic>
      <p:pic>
        <p:nvPicPr>
          <p:cNvPr id="7" name="Imagen 6">
            <a:extLst>
              <a:ext uri="{FF2B5EF4-FFF2-40B4-BE49-F238E27FC236}">
                <a16:creationId xmlns:a16="http://schemas.microsoft.com/office/drawing/2014/main" id="{7D0544AE-763D-BF10-2535-E627EF0AF40C}"/>
              </a:ext>
            </a:extLst>
          </p:cNvPr>
          <p:cNvPicPr>
            <a:picLocks noChangeAspect="1"/>
          </p:cNvPicPr>
          <p:nvPr/>
        </p:nvPicPr>
        <p:blipFill>
          <a:blip r:embed="rId5"/>
          <a:stretch>
            <a:fillRect/>
          </a:stretch>
        </p:blipFill>
        <p:spPr>
          <a:xfrm>
            <a:off x="8153400" y="1033091"/>
            <a:ext cx="3557274" cy="4066495"/>
          </a:xfrm>
          <a:prstGeom prst="rect">
            <a:avLst/>
          </a:prstGeom>
        </p:spPr>
      </p:pic>
    </p:spTree>
    <p:extLst>
      <p:ext uri="{BB962C8B-B14F-4D97-AF65-F5344CB8AC3E}">
        <p14:creationId xmlns:p14="http://schemas.microsoft.com/office/powerpoint/2010/main" val="504396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1943-FB7C-AAFB-6291-96E44B9598DB}"/>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0A1FF5AE-67A0-7A0F-FFFB-825AA682B811}"/>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20EB2C10-3FC8-5791-A7EC-62F38D5DE13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5281C36-85B1-3213-F8FE-BD166B0E78A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6</a:t>
            </a:fld>
            <a:endParaRPr lang="es-MX" noProof="0" dirty="0"/>
          </a:p>
        </p:txBody>
      </p:sp>
      <p:pic>
        <p:nvPicPr>
          <p:cNvPr id="9" name="Imagen 8">
            <a:extLst>
              <a:ext uri="{FF2B5EF4-FFF2-40B4-BE49-F238E27FC236}">
                <a16:creationId xmlns:a16="http://schemas.microsoft.com/office/drawing/2014/main" id="{9D20EED1-C251-DCC5-943D-6FC0CC39191F}"/>
              </a:ext>
            </a:extLst>
          </p:cNvPr>
          <p:cNvPicPr>
            <a:picLocks noChangeAspect="1"/>
          </p:cNvPicPr>
          <p:nvPr/>
        </p:nvPicPr>
        <p:blipFill>
          <a:blip r:embed="rId3"/>
          <a:stretch>
            <a:fillRect/>
          </a:stretch>
        </p:blipFill>
        <p:spPr>
          <a:xfrm>
            <a:off x="3173113" y="0"/>
            <a:ext cx="5845774" cy="5975342"/>
          </a:xfrm>
          <a:prstGeom prst="rect">
            <a:avLst/>
          </a:prstGeom>
        </p:spPr>
      </p:pic>
      <p:sp>
        <p:nvSpPr>
          <p:cNvPr id="11" name="Marcador de pie de página 3">
            <a:extLst>
              <a:ext uri="{FF2B5EF4-FFF2-40B4-BE49-F238E27FC236}">
                <a16:creationId xmlns:a16="http://schemas.microsoft.com/office/drawing/2014/main" id="{4B69FF7B-B840-34DC-BA04-D38C0146A76D}"/>
              </a:ext>
            </a:extLst>
          </p:cNvPr>
          <p:cNvSpPr txBox="1">
            <a:spLocks/>
          </p:cNvSpPr>
          <p:nvPr/>
        </p:nvSpPr>
        <p:spPr>
          <a:xfrm>
            <a:off x="3337138" y="5991225"/>
            <a:ext cx="5517724"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Documento de análisis semanal sobre la cobertura mediática, incluyendo recomendaciones estratégicas.</a:t>
            </a:r>
          </a:p>
        </p:txBody>
      </p:sp>
    </p:spTree>
    <p:extLst>
      <p:ext uri="{BB962C8B-B14F-4D97-AF65-F5344CB8AC3E}">
        <p14:creationId xmlns:p14="http://schemas.microsoft.com/office/powerpoint/2010/main" val="147547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1632-DAFE-6A84-D973-07BA3F4887E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F244FCF-9611-CB35-C0CF-D5085CE2F4BC}"/>
              </a:ext>
            </a:extLst>
          </p:cNvPr>
          <p:cNvSpPr>
            <a:spLocks noGrp="1"/>
          </p:cNvSpPr>
          <p:nvPr>
            <p:ph type="body" sz="quarter" idx="13"/>
          </p:nvPr>
        </p:nvSpPr>
        <p:spPr>
          <a:xfrm>
            <a:off x="-338041" y="1303537"/>
            <a:ext cx="2780523" cy="791839"/>
          </a:xfrm>
        </p:spPr>
        <p:txBody>
          <a:bodyPr vert="horz" lIns="91440" tIns="45720" rIns="91440" bIns="45720" rtlCol="0" anchor="ctr">
            <a:normAutofit/>
          </a:bodyPr>
          <a:lstStyle/>
          <a:p>
            <a:r>
              <a:rPr lang="es-MX" dirty="0"/>
              <a:t>Monitoreo y detección</a:t>
            </a:r>
          </a:p>
        </p:txBody>
      </p:sp>
      <p:sp>
        <p:nvSpPr>
          <p:cNvPr id="4" name="Marcador de texto 3">
            <a:extLst>
              <a:ext uri="{FF2B5EF4-FFF2-40B4-BE49-F238E27FC236}">
                <a16:creationId xmlns:a16="http://schemas.microsoft.com/office/drawing/2014/main" id="{6CF362EB-1918-A91F-9E2F-A76D7BD75A40}"/>
              </a:ext>
            </a:extLst>
          </p:cNvPr>
          <p:cNvSpPr>
            <a:spLocks noGrp="1"/>
          </p:cNvSpPr>
          <p:nvPr>
            <p:ph type="body" sz="quarter" idx="14"/>
          </p:nvPr>
        </p:nvSpPr>
        <p:spPr>
          <a:xfrm>
            <a:off x="714375" y="2557463"/>
            <a:ext cx="2141764" cy="514350"/>
          </a:xfrm>
        </p:spPr>
        <p:txBody>
          <a:bodyPr rtlCol="0"/>
          <a:lstStyle/>
          <a:p>
            <a:r>
              <a:rPr lang="es-MX" dirty="0"/>
              <a:t>Filtro y clasificación</a:t>
            </a:r>
          </a:p>
        </p:txBody>
      </p:sp>
      <p:sp>
        <p:nvSpPr>
          <p:cNvPr id="5" name="Marcador de texto 4">
            <a:extLst>
              <a:ext uri="{FF2B5EF4-FFF2-40B4-BE49-F238E27FC236}">
                <a16:creationId xmlns:a16="http://schemas.microsoft.com/office/drawing/2014/main" id="{D7BF6B9F-7702-C8BE-669C-219819278D9D}"/>
              </a:ext>
            </a:extLst>
          </p:cNvPr>
          <p:cNvSpPr>
            <a:spLocks noGrp="1"/>
          </p:cNvSpPr>
          <p:nvPr>
            <p:ph type="body" sz="quarter" idx="15"/>
          </p:nvPr>
        </p:nvSpPr>
        <p:spPr>
          <a:xfrm>
            <a:off x="838200" y="3633788"/>
            <a:ext cx="2624364" cy="514350"/>
          </a:xfrm>
        </p:spPr>
        <p:txBody>
          <a:bodyPr rtlCol="0"/>
          <a:lstStyle/>
          <a:p>
            <a:r>
              <a:rPr lang="es-MX" dirty="0"/>
              <a:t>Priorización y síntesis</a:t>
            </a:r>
          </a:p>
        </p:txBody>
      </p:sp>
      <p:sp>
        <p:nvSpPr>
          <p:cNvPr id="6" name="Marcador de texto 5">
            <a:extLst>
              <a:ext uri="{FF2B5EF4-FFF2-40B4-BE49-F238E27FC236}">
                <a16:creationId xmlns:a16="http://schemas.microsoft.com/office/drawing/2014/main" id="{4D13C73F-5E6D-730D-7BEC-7E3ED3FE3BA7}"/>
              </a:ext>
            </a:extLst>
          </p:cNvPr>
          <p:cNvSpPr>
            <a:spLocks noGrp="1"/>
          </p:cNvSpPr>
          <p:nvPr>
            <p:ph type="body" sz="quarter" idx="16"/>
          </p:nvPr>
        </p:nvSpPr>
        <p:spPr>
          <a:xfrm>
            <a:off x="838200" y="4710114"/>
            <a:ext cx="3208564" cy="514350"/>
          </a:xfrm>
        </p:spPr>
        <p:txBody>
          <a:bodyPr rtlCol="0"/>
          <a:lstStyle/>
          <a:p>
            <a:r>
              <a:rPr lang="es-MX" dirty="0"/>
              <a:t>Resultados según su urgencia</a:t>
            </a:r>
          </a:p>
        </p:txBody>
      </p:sp>
      <p:sp>
        <p:nvSpPr>
          <p:cNvPr id="7" name="Marcador de texto 6">
            <a:extLst>
              <a:ext uri="{FF2B5EF4-FFF2-40B4-BE49-F238E27FC236}">
                <a16:creationId xmlns:a16="http://schemas.microsoft.com/office/drawing/2014/main" id="{3776D0EF-11E6-C957-5A39-631957B9BCF0}"/>
              </a:ext>
            </a:extLst>
          </p:cNvPr>
          <p:cNvSpPr>
            <a:spLocks noGrp="1"/>
          </p:cNvSpPr>
          <p:nvPr>
            <p:ph type="body" sz="quarter" idx="17"/>
          </p:nvPr>
        </p:nvSpPr>
        <p:spPr>
          <a:xfrm>
            <a:off x="4401535" y="1194036"/>
            <a:ext cx="7312839" cy="1010842"/>
          </a:xfrm>
        </p:spPr>
        <p:txBody>
          <a:bodyPr rtlCol="0" anchor="ctr"/>
          <a:lstStyle/>
          <a:p>
            <a:pPr algn="just"/>
            <a:r>
              <a:rPr lang="es-MX" dirty="0"/>
              <a:t>Monitorea diversas fuentes informativas, según la agenda de cada cliente, para detectar nuevos contenidos.</a:t>
            </a:r>
          </a:p>
        </p:txBody>
      </p:sp>
      <p:sp>
        <p:nvSpPr>
          <p:cNvPr id="8" name="Marcador de texto 7">
            <a:extLst>
              <a:ext uri="{FF2B5EF4-FFF2-40B4-BE49-F238E27FC236}">
                <a16:creationId xmlns:a16="http://schemas.microsoft.com/office/drawing/2014/main" id="{1828D45B-BA8B-F75A-DD00-3337593B883B}"/>
              </a:ext>
            </a:extLst>
          </p:cNvPr>
          <p:cNvSpPr>
            <a:spLocks noGrp="1"/>
          </p:cNvSpPr>
          <p:nvPr>
            <p:ph type="body" sz="quarter" idx="18"/>
          </p:nvPr>
        </p:nvSpPr>
        <p:spPr>
          <a:xfrm>
            <a:off x="4986028" y="2557463"/>
            <a:ext cx="6728346" cy="584605"/>
          </a:xfrm>
        </p:spPr>
        <p:txBody>
          <a:bodyPr rtlCol="0" anchor="ctr">
            <a:normAutofit/>
          </a:bodyPr>
          <a:lstStyle/>
          <a:p>
            <a:pPr algn="just"/>
            <a:r>
              <a:rPr lang="es-MX" dirty="0"/>
              <a:t>Filtra falsos positivos (publicidad, coincidencias de nombre) y clasifica la información por temas.</a:t>
            </a:r>
          </a:p>
        </p:txBody>
      </p:sp>
      <p:sp>
        <p:nvSpPr>
          <p:cNvPr id="9" name="Marcador de texto 8">
            <a:extLst>
              <a:ext uri="{FF2B5EF4-FFF2-40B4-BE49-F238E27FC236}">
                <a16:creationId xmlns:a16="http://schemas.microsoft.com/office/drawing/2014/main" id="{11E75D4D-51E5-BDCD-E7A8-4798B84F2DBB}"/>
              </a:ext>
            </a:extLst>
          </p:cNvPr>
          <p:cNvSpPr>
            <a:spLocks noGrp="1"/>
          </p:cNvSpPr>
          <p:nvPr>
            <p:ph type="body" sz="quarter" idx="19"/>
          </p:nvPr>
        </p:nvSpPr>
        <p:spPr>
          <a:xfrm>
            <a:off x="5576937" y="3592891"/>
            <a:ext cx="6137437" cy="584605"/>
          </a:xfrm>
        </p:spPr>
        <p:txBody>
          <a:bodyPr rtlCol="0" anchor="ctr">
            <a:normAutofit/>
          </a:bodyPr>
          <a:lstStyle/>
          <a:p>
            <a:pPr algn="just"/>
            <a:r>
              <a:rPr lang="es-MX" dirty="0"/>
              <a:t>Identifica y elimina coberturas repetidas o acontecimientos ya reportados para priorizar los desarrollos más relevantes y sintetizarlos.</a:t>
            </a:r>
          </a:p>
        </p:txBody>
      </p:sp>
      <p:sp>
        <p:nvSpPr>
          <p:cNvPr id="10" name="Marcador de texto 9">
            <a:extLst>
              <a:ext uri="{FF2B5EF4-FFF2-40B4-BE49-F238E27FC236}">
                <a16:creationId xmlns:a16="http://schemas.microsoft.com/office/drawing/2014/main" id="{BB75721D-5555-DA46-3B6B-B40F32253771}"/>
              </a:ext>
            </a:extLst>
          </p:cNvPr>
          <p:cNvSpPr>
            <a:spLocks noGrp="1"/>
          </p:cNvSpPr>
          <p:nvPr>
            <p:ph type="body" sz="quarter" idx="20"/>
          </p:nvPr>
        </p:nvSpPr>
        <p:spPr>
          <a:xfrm>
            <a:off x="6175279" y="4710114"/>
            <a:ext cx="5539095" cy="839534"/>
          </a:xfrm>
        </p:spPr>
        <p:txBody>
          <a:bodyPr rtlCol="0"/>
          <a:lstStyle/>
          <a:p>
            <a:pPr algn="just"/>
            <a:r>
              <a:rPr lang="es-MX" dirty="0"/>
              <a:t>Dependiendo de la relevancia de la noticia, se entrega mediante alertas inmediatas vía Telegram o a través de briefs periódicos con acceso directo a las fuentes originales.</a:t>
            </a:r>
          </a:p>
        </p:txBody>
      </p:sp>
      <p:sp>
        <p:nvSpPr>
          <p:cNvPr id="11" name="Marcador de fecha 10">
            <a:extLst>
              <a:ext uri="{FF2B5EF4-FFF2-40B4-BE49-F238E27FC236}">
                <a16:creationId xmlns:a16="http://schemas.microsoft.com/office/drawing/2014/main" id="{DBA4EC8C-89F1-5BF2-F0C0-A929431150AE}"/>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0" name="Marcador de pie de página 79">
            <a:extLst>
              <a:ext uri="{FF2B5EF4-FFF2-40B4-BE49-F238E27FC236}">
                <a16:creationId xmlns:a16="http://schemas.microsoft.com/office/drawing/2014/main" id="{AA9156BD-5EE9-A2ED-9B94-221559D61264}"/>
              </a:ext>
            </a:extLst>
          </p:cNvPr>
          <p:cNvSpPr>
            <a:spLocks noGrp="1"/>
          </p:cNvSpPr>
          <p:nvPr>
            <p:ph type="ftr" sz="quarter" idx="11"/>
          </p:nvPr>
        </p:nvSpPr>
        <p:spPr>
          <a:xfrm>
            <a:off x="5992610" y="6356350"/>
            <a:ext cx="2407054" cy="365125"/>
          </a:xfrm>
        </p:spPr>
        <p:txBody>
          <a:bodyPr rtlCol="0"/>
          <a:lstStyle/>
          <a:p>
            <a:r>
              <a:rPr lang="es-MX" dirty="0"/>
              <a:t>Luis Daniel Santiago Vidargas – Monitoreo +</a:t>
            </a:r>
          </a:p>
        </p:txBody>
      </p:sp>
      <p:sp>
        <p:nvSpPr>
          <p:cNvPr id="13" name="Marcador de número de diapositiva 12">
            <a:extLst>
              <a:ext uri="{FF2B5EF4-FFF2-40B4-BE49-F238E27FC236}">
                <a16:creationId xmlns:a16="http://schemas.microsoft.com/office/drawing/2014/main" id="{50182DF9-E6FA-F039-7235-4BA9B952B708}"/>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s-MX" smtClean="0"/>
              <a:pPr rtl="0"/>
              <a:t>7</a:t>
            </a:fld>
            <a:endParaRPr lang="es-MX"/>
          </a:p>
        </p:txBody>
      </p:sp>
      <p:sp>
        <p:nvSpPr>
          <p:cNvPr id="2" name="Título 1">
            <a:extLst>
              <a:ext uri="{FF2B5EF4-FFF2-40B4-BE49-F238E27FC236}">
                <a16:creationId xmlns:a16="http://schemas.microsoft.com/office/drawing/2014/main" id="{F2FFC68B-1CB3-3DE6-AA01-860A6862654D}"/>
              </a:ext>
            </a:extLst>
          </p:cNvPr>
          <p:cNvSpPr txBox="1">
            <a:spLocks/>
          </p:cNvSpPr>
          <p:nvPr/>
        </p:nvSpPr>
        <p:spPr>
          <a:xfrm>
            <a:off x="35609" y="150190"/>
            <a:ext cx="10775265" cy="7689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s-MX" sz="1600" b="1" dirty="0"/>
              <a:t>Monitoreo +</a:t>
            </a:r>
          </a:p>
          <a:p>
            <a:pPr algn="just"/>
            <a:r>
              <a:rPr lang="es-MX" sz="1600" cap="none" dirty="0"/>
              <a:t>Transforma un flujo constante de publicaciones en información útil para la toma de decisiones</a:t>
            </a:r>
          </a:p>
        </p:txBody>
      </p:sp>
    </p:spTree>
    <p:extLst>
      <p:ext uri="{BB962C8B-B14F-4D97-AF65-F5344CB8AC3E}">
        <p14:creationId xmlns:p14="http://schemas.microsoft.com/office/powerpoint/2010/main" val="63758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1938-4694-1C83-29A6-80F08409A9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FD8273-F862-6B98-E8E6-12D7AE5DB20A}"/>
              </a:ext>
            </a:extLst>
          </p:cNvPr>
          <p:cNvSpPr>
            <a:spLocks noGrp="1"/>
          </p:cNvSpPr>
          <p:nvPr>
            <p:ph type="title"/>
          </p:nvPr>
        </p:nvSpPr>
        <p:spPr>
          <a:xfrm>
            <a:off x="1885156" y="892177"/>
            <a:ext cx="8421688" cy="1325563"/>
          </a:xfrm>
        </p:spPr>
        <p:txBody>
          <a:bodyPr rtlCol="0"/>
          <a:lstStyle/>
          <a:p>
            <a:pPr rtl="0"/>
            <a:r>
              <a:rPr lang="es-MX" dirty="0"/>
              <a:t>Diversas fuentes de información</a:t>
            </a:r>
          </a:p>
        </p:txBody>
      </p:sp>
      <p:sp>
        <p:nvSpPr>
          <p:cNvPr id="3" name="Marcador de texto 2">
            <a:extLst>
              <a:ext uri="{FF2B5EF4-FFF2-40B4-BE49-F238E27FC236}">
                <a16:creationId xmlns:a16="http://schemas.microsoft.com/office/drawing/2014/main" id="{D1B38F77-71D1-2D76-D4A0-96125143EE21}"/>
              </a:ext>
            </a:extLst>
          </p:cNvPr>
          <p:cNvSpPr>
            <a:spLocks noGrp="1"/>
          </p:cNvSpPr>
          <p:nvPr>
            <p:ph type="body" idx="1"/>
          </p:nvPr>
        </p:nvSpPr>
        <p:spPr>
          <a:xfrm>
            <a:off x="2288108" y="3026570"/>
            <a:ext cx="2330726" cy="804859"/>
          </a:xfrm>
        </p:spPr>
        <p:txBody>
          <a:bodyPr rtlCol="0"/>
          <a:lstStyle/>
          <a:p>
            <a:pPr rtl="0"/>
            <a:r>
              <a:rPr lang="es-MX" dirty="0"/>
              <a:t>MEDIOS DIGITALES</a:t>
            </a:r>
          </a:p>
        </p:txBody>
      </p:sp>
      <p:sp>
        <p:nvSpPr>
          <p:cNvPr id="4" name="Marcador de contenido 3">
            <a:extLst>
              <a:ext uri="{FF2B5EF4-FFF2-40B4-BE49-F238E27FC236}">
                <a16:creationId xmlns:a16="http://schemas.microsoft.com/office/drawing/2014/main" id="{8EEA1120-22D7-D436-9A36-D883B5374D4E}"/>
              </a:ext>
            </a:extLst>
          </p:cNvPr>
          <p:cNvSpPr>
            <a:spLocks noGrp="1"/>
          </p:cNvSpPr>
          <p:nvPr>
            <p:ph sz="half" idx="2"/>
          </p:nvPr>
        </p:nvSpPr>
        <p:spPr>
          <a:xfrm>
            <a:off x="2288108" y="4163599"/>
            <a:ext cx="2330726" cy="1579303"/>
          </a:xfrm>
        </p:spPr>
        <p:txBody>
          <a:bodyPr rtlCol="0">
            <a:normAutofit/>
          </a:bodyPr>
          <a:lstStyle/>
          <a:p>
            <a:r>
              <a:rPr lang="es-MX" dirty="0"/>
              <a:t>Notas informativas, artículos o columnas de opinión en medios de comunicación (pueden ser de Colombia o del exterior).</a:t>
            </a:r>
          </a:p>
        </p:txBody>
      </p:sp>
      <p:graphicFrame>
        <p:nvGraphicFramePr>
          <p:cNvPr id="127" name="Marcador de contenido 126" title="Gráfico de financiación">
            <a:extLst>
              <a:ext uri="{FF2B5EF4-FFF2-40B4-BE49-F238E27FC236}">
                <a16:creationId xmlns:a16="http://schemas.microsoft.com/office/drawing/2014/main" id="{987F8110-733F-537A-8C2C-A861F8164935}"/>
              </a:ext>
            </a:extLst>
          </p:cNvPr>
          <p:cNvGraphicFramePr>
            <a:graphicFrameLocks noGrp="1"/>
          </p:cNvGraphicFramePr>
          <p:nvPr>
            <p:ph sz="quarter" idx="22"/>
          </p:nvPr>
        </p:nvGraphicFramePr>
        <p:xfrm>
          <a:off x="5261496" y="2217740"/>
          <a:ext cx="1855787" cy="1663700"/>
        </p:xfrm>
        <a:graphic>
          <a:graphicData uri="http://schemas.openxmlformats.org/drawingml/2006/chart">
            <c:chart xmlns:c="http://schemas.openxmlformats.org/drawingml/2006/chart" xmlns:r="http://schemas.openxmlformats.org/officeDocument/2006/relationships" r:id="rId3"/>
          </a:graphicData>
        </a:graphic>
      </p:graphicFrame>
      <p:sp>
        <p:nvSpPr>
          <p:cNvPr id="6" name="Marcador de contenido 5">
            <a:extLst>
              <a:ext uri="{FF2B5EF4-FFF2-40B4-BE49-F238E27FC236}">
                <a16:creationId xmlns:a16="http://schemas.microsoft.com/office/drawing/2014/main" id="{4E738030-8C17-E729-C7E6-BFC66ABB9445}"/>
              </a:ext>
            </a:extLst>
          </p:cNvPr>
          <p:cNvSpPr>
            <a:spLocks noGrp="1"/>
          </p:cNvSpPr>
          <p:nvPr>
            <p:ph sz="quarter" idx="4"/>
          </p:nvPr>
        </p:nvSpPr>
        <p:spPr>
          <a:xfrm>
            <a:off x="5018286" y="4265727"/>
            <a:ext cx="2342205" cy="1325563"/>
          </a:xfrm>
        </p:spPr>
        <p:txBody>
          <a:bodyPr rtlCol="0">
            <a:normAutofit/>
          </a:bodyPr>
          <a:lstStyle/>
          <a:p>
            <a:r>
              <a:rPr lang="es-MX" dirty="0"/>
              <a:t>Seguimiento de cuentas con opción de configurar alertas cuando estas mencionen determinados temas.</a:t>
            </a:r>
          </a:p>
        </p:txBody>
      </p:sp>
      <p:sp>
        <p:nvSpPr>
          <p:cNvPr id="11" name="Marcador de contenido 10">
            <a:extLst>
              <a:ext uri="{FF2B5EF4-FFF2-40B4-BE49-F238E27FC236}">
                <a16:creationId xmlns:a16="http://schemas.microsoft.com/office/drawing/2014/main" id="{8EE25BDB-7B11-EE46-5E08-3A4409CFB80C}"/>
              </a:ext>
            </a:extLst>
          </p:cNvPr>
          <p:cNvSpPr>
            <a:spLocks noGrp="1"/>
          </p:cNvSpPr>
          <p:nvPr>
            <p:ph sz="half" idx="14"/>
          </p:nvPr>
        </p:nvSpPr>
        <p:spPr>
          <a:xfrm>
            <a:off x="7937850" y="4265727"/>
            <a:ext cx="2447121" cy="985442"/>
          </a:xfrm>
        </p:spPr>
        <p:txBody>
          <a:bodyPr rtlCol="0">
            <a:normAutofit/>
          </a:bodyPr>
          <a:lstStyle/>
          <a:p>
            <a:r>
              <a:rPr lang="es-MX" dirty="0"/>
              <a:t>Seguimiento de canales con opción de configurar alertas cuando estos mencionen determinados temas.</a:t>
            </a:r>
          </a:p>
        </p:txBody>
      </p:sp>
      <p:sp>
        <p:nvSpPr>
          <p:cNvPr id="7" name="Marcador de fecha 6">
            <a:extLst>
              <a:ext uri="{FF2B5EF4-FFF2-40B4-BE49-F238E27FC236}">
                <a16:creationId xmlns:a16="http://schemas.microsoft.com/office/drawing/2014/main" id="{0BDA27CA-BD11-2DE4-D2C7-080C8D9A5303}"/>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 name="Marcador de pie de página 7">
            <a:extLst>
              <a:ext uri="{FF2B5EF4-FFF2-40B4-BE49-F238E27FC236}">
                <a16:creationId xmlns:a16="http://schemas.microsoft.com/office/drawing/2014/main" id="{46CB2D83-7B42-D995-BAF7-21FB2EC4438A}"/>
              </a:ext>
            </a:extLst>
          </p:cNvPr>
          <p:cNvSpPr>
            <a:spLocks noGrp="1"/>
          </p:cNvSpPr>
          <p:nvPr>
            <p:ph type="ftr" sz="quarter" idx="11"/>
          </p:nvPr>
        </p:nvSpPr>
        <p:spPr>
          <a:xfrm>
            <a:off x="4038600" y="6356350"/>
            <a:ext cx="4114800" cy="365125"/>
          </a:xfrm>
        </p:spPr>
        <p:txBody>
          <a:bodyPr rtlCol="0"/>
          <a:lstStyle/>
          <a:p>
            <a:r>
              <a:rPr lang="es-MX" dirty="0"/>
              <a:t>Luis Daniel Santiago Vidargas – Monitoreo +</a:t>
            </a:r>
          </a:p>
        </p:txBody>
      </p:sp>
      <p:sp>
        <p:nvSpPr>
          <p:cNvPr id="9" name="Marcador de número de diapositiva 8">
            <a:extLst>
              <a:ext uri="{FF2B5EF4-FFF2-40B4-BE49-F238E27FC236}">
                <a16:creationId xmlns:a16="http://schemas.microsoft.com/office/drawing/2014/main" id="{68406CC5-2878-DC0B-4353-DDB50EE4F21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8</a:t>
            </a:fld>
            <a:endParaRPr lang="es-MX" dirty="0"/>
          </a:p>
        </p:txBody>
      </p:sp>
      <p:pic>
        <p:nvPicPr>
          <p:cNvPr id="23" name="Imagen 22" descr="Archivo:Twitter X.png - Wikipedia, la enciclopedia libre">
            <a:extLst>
              <a:ext uri="{FF2B5EF4-FFF2-40B4-BE49-F238E27FC236}">
                <a16:creationId xmlns:a16="http://schemas.microsoft.com/office/drawing/2014/main" id="{74F5EF74-3962-62FF-D5C0-26DEEC09CA43}"/>
              </a:ext>
            </a:extLst>
          </p:cNvPr>
          <p:cNvPicPr>
            <a:picLocks noChangeAspect="1"/>
          </p:cNvPicPr>
          <p:nvPr/>
        </p:nvPicPr>
        <p:blipFill>
          <a:blip r:embed="rId4"/>
          <a:stretch>
            <a:fillRect/>
          </a:stretch>
        </p:blipFill>
        <p:spPr>
          <a:xfrm>
            <a:off x="5567618" y="3108114"/>
            <a:ext cx="1056764" cy="773326"/>
          </a:xfrm>
          <a:prstGeom prst="rect">
            <a:avLst/>
          </a:prstGeom>
        </p:spPr>
      </p:pic>
      <p:pic>
        <p:nvPicPr>
          <p:cNvPr id="28" name="Imagen 27" descr="Logo Youtube icon - Free Download PNG &amp; SVG | Streamline">
            <a:extLst>
              <a:ext uri="{FF2B5EF4-FFF2-40B4-BE49-F238E27FC236}">
                <a16:creationId xmlns:a16="http://schemas.microsoft.com/office/drawing/2014/main" id="{DB2259C8-CCA5-BD40-37E9-9D3E87943D0B}"/>
              </a:ext>
            </a:extLst>
          </p:cNvPr>
          <p:cNvPicPr>
            <a:picLocks noChangeAspect="1"/>
          </p:cNvPicPr>
          <p:nvPr/>
        </p:nvPicPr>
        <p:blipFill>
          <a:blip r:embed="rId5"/>
          <a:stretch>
            <a:fillRect/>
          </a:stretch>
        </p:blipFill>
        <p:spPr>
          <a:xfrm>
            <a:off x="8406882" y="2816683"/>
            <a:ext cx="1346916" cy="1346916"/>
          </a:xfrm>
          <a:prstGeom prst="rect">
            <a:avLst/>
          </a:prstGeom>
        </p:spPr>
      </p:pic>
    </p:spTree>
    <p:extLst>
      <p:ext uri="{BB962C8B-B14F-4D97-AF65-F5344CB8AC3E}">
        <p14:creationId xmlns:p14="http://schemas.microsoft.com/office/powerpoint/2010/main" val="3424601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EA83-8039-848F-D9F1-AA5F298CB42C}"/>
            </a:ext>
          </a:extLst>
        </p:cNvPr>
        <p:cNvGrpSpPr/>
        <p:nvPr/>
      </p:nvGrpSpPr>
      <p:grpSpPr>
        <a:xfrm>
          <a:off x="0" y="0"/>
          <a:ext cx="0" cy="0"/>
          <a:chOff x="0" y="0"/>
          <a:chExt cx="0" cy="0"/>
        </a:xfrm>
      </p:grpSpPr>
      <p:sp>
        <p:nvSpPr>
          <p:cNvPr id="11" name="Título 10">
            <a:extLst>
              <a:ext uri="{FF2B5EF4-FFF2-40B4-BE49-F238E27FC236}">
                <a16:creationId xmlns:a16="http://schemas.microsoft.com/office/drawing/2014/main" id="{CCDFC2ED-F4EF-91B0-0A86-E1E5216ADD9E}"/>
              </a:ext>
            </a:extLst>
          </p:cNvPr>
          <p:cNvSpPr>
            <a:spLocks noGrp="1"/>
          </p:cNvSpPr>
          <p:nvPr>
            <p:ph type="title"/>
          </p:nvPr>
        </p:nvSpPr>
        <p:spPr>
          <a:xfrm>
            <a:off x="838200" y="365125"/>
            <a:ext cx="10515600" cy="866977"/>
          </a:xfrm>
        </p:spPr>
        <p:txBody>
          <a:bodyPr rtlCol="0" anchor="ctr">
            <a:normAutofit/>
          </a:bodyPr>
          <a:lstStyle/>
          <a:p>
            <a:pPr rtl="0"/>
            <a:r>
              <a:rPr lang="es-MX" b="1" dirty="0"/>
              <a:t>Costo</a:t>
            </a:r>
          </a:p>
        </p:txBody>
      </p:sp>
      <p:sp>
        <p:nvSpPr>
          <p:cNvPr id="2" name="Marcador de fecha 1">
            <a:extLst>
              <a:ext uri="{FF2B5EF4-FFF2-40B4-BE49-F238E27FC236}">
                <a16:creationId xmlns:a16="http://schemas.microsoft.com/office/drawing/2014/main" id="{814961CE-BC01-D37D-F226-115DB0BC64EA}"/>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3" name="Marcador de pie de página 2">
            <a:extLst>
              <a:ext uri="{FF2B5EF4-FFF2-40B4-BE49-F238E27FC236}">
                <a16:creationId xmlns:a16="http://schemas.microsoft.com/office/drawing/2014/main" id="{4EA339F0-81FB-DCE5-680F-7E540D3926BD}"/>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0A53E2A2-F906-72C5-9794-DFE7100D0DC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9</a:t>
            </a:fld>
            <a:endParaRPr lang="es-MX" dirty="0"/>
          </a:p>
        </p:txBody>
      </p:sp>
      <p:graphicFrame>
        <p:nvGraphicFramePr>
          <p:cNvPr id="17" name="Tabla 9">
            <a:extLst>
              <a:ext uri="{FF2B5EF4-FFF2-40B4-BE49-F238E27FC236}">
                <a16:creationId xmlns:a16="http://schemas.microsoft.com/office/drawing/2014/main" id="{C98CE520-E7F6-85CF-C9B6-35E5BF8981C4}"/>
              </a:ext>
            </a:extLst>
          </p:cNvPr>
          <p:cNvGraphicFramePr>
            <a:graphicFrameLocks noGrp="1"/>
          </p:cNvGraphicFramePr>
          <p:nvPr>
            <p:ph type="dgm" sz="quarter" idx="15"/>
            <p:extLst>
              <p:ext uri="{D42A27DB-BD31-4B8C-83A1-F6EECF244321}">
                <p14:modId xmlns:p14="http://schemas.microsoft.com/office/powerpoint/2010/main" val="3970772532"/>
              </p:ext>
            </p:extLst>
          </p:nvPr>
        </p:nvGraphicFramePr>
        <p:xfrm>
          <a:off x="376335" y="1016095"/>
          <a:ext cx="11439330" cy="5003202"/>
        </p:xfrm>
        <a:graphic>
          <a:graphicData uri="http://schemas.openxmlformats.org/drawingml/2006/table">
            <a:tbl>
              <a:tblPr firstRow="1" lastRow="1" bandRow="1">
                <a:tableStyleId>{5C22544A-7EE6-4342-B048-85BDC9FD1C3A}</a:tableStyleId>
              </a:tblPr>
              <a:tblGrid>
                <a:gridCol w="9933164">
                  <a:extLst>
                    <a:ext uri="{9D8B030D-6E8A-4147-A177-3AD203B41FA5}">
                      <a16:colId xmlns:a16="http://schemas.microsoft.com/office/drawing/2014/main" val="3446012419"/>
                    </a:ext>
                  </a:extLst>
                </a:gridCol>
                <a:gridCol w="1506166">
                  <a:extLst>
                    <a:ext uri="{9D8B030D-6E8A-4147-A177-3AD203B41FA5}">
                      <a16:colId xmlns:a16="http://schemas.microsoft.com/office/drawing/2014/main" val="4052646397"/>
                    </a:ext>
                  </a:extLst>
                </a:gridCol>
              </a:tblGrid>
              <a:tr h="250951">
                <a:tc>
                  <a:txBody>
                    <a:bodyPr/>
                    <a:lstStyle/>
                    <a:p>
                      <a:pPr algn="l" rtl="0" fontAlgn="b"/>
                      <a:r>
                        <a:rPr lang="es-MX" sz="1600" b="1" i="0" u="none" strike="noStrike" noProof="0" dirty="0">
                          <a:solidFill>
                            <a:schemeClr val="tx1"/>
                          </a:solidFill>
                          <a:effectLst/>
                          <a:latin typeface="+mn-lt"/>
                        </a:rPr>
                        <a:t>Cobertura mensual completa</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$750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663174250"/>
                  </a:ext>
                </a:extLst>
              </a:tr>
              <a:tr h="1317368">
                <a:tc>
                  <a:txBody>
                    <a:bodyPr/>
                    <a:lstStyle/>
                    <a:p>
                      <a:pPr lvl="0" algn="l" rtl="0" fontAlgn="b"/>
                      <a:r>
                        <a:rPr lang="es-MX" sz="1350" b="1" u="none" strike="noStrike" noProof="0" dirty="0">
                          <a:solidFill>
                            <a:schemeClr val="tx1"/>
                          </a:solidFill>
                          <a:effectLst/>
                        </a:rPr>
                        <a:t>Sitio web personalizable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Monitoreo de cobertura mediática 24/7 de temas de interés para el cliente</a:t>
                      </a:r>
                    </a:p>
                    <a:p>
                      <a:pPr lvl="0" algn="l" rtl="0" fontAlgn="b"/>
                      <a:r>
                        <a:rPr lang="es-MX" sz="1350" b="1" u="none" strike="noStrike" noProof="0" dirty="0">
                          <a:solidFill>
                            <a:schemeClr val="tx1"/>
                          </a:solidFill>
                          <a:effectLst/>
                        </a:rPr>
                        <a:t>Registro histórico de cobertura mediática disponible para consulta</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Almacenamiento de contenido recabado en cobertura mediática para elaboración de briefs</a:t>
                      </a:r>
                    </a:p>
                    <a:p>
                      <a:pPr lvl="0" algn="l" rtl="0" fontAlgn="b"/>
                      <a:r>
                        <a:rPr lang="es-MX" altLang="es-MX" sz="1350" b="0" u="none" strike="noStrike" kern="1200" dirty="0">
                          <a:solidFill>
                            <a:schemeClr val="tx1"/>
                          </a:solidFill>
                          <a:effectLst/>
                          <a:latin typeface="+mn-lt"/>
                          <a:ea typeface="+mn-ea"/>
                          <a:cs typeface="+mn-cs"/>
                        </a:rPr>
                        <a:t>Sistema de briefs automatizado</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1" u="none" strike="noStrike" noProof="0" dirty="0">
                          <a:solidFill>
                            <a:schemeClr val="tx1"/>
                          </a:solidFill>
                          <a:effectLst/>
                        </a:rPr>
                        <a:t>Acceso a todas las notas recabadas para producir briefs</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350" b="0" i="0" u="none" strike="noStrike" kern="1200" dirty="0">
                          <a:solidFill>
                            <a:schemeClr val="tx1"/>
                          </a:solidFill>
                          <a:effectLst/>
                          <a:latin typeface="+mn-lt"/>
                          <a:ea typeface="+mn-ea"/>
                          <a:cs typeface="+mn-cs"/>
                        </a:rPr>
                        <a:t>Reporte semanal de análisis que profundiza en desarrollos mediáticos de interés y ofrece una lectura estratégica de la situación</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0773105"/>
                  </a:ext>
                </a:extLst>
              </a:tr>
              <a:tr h="205613">
                <a:tc>
                  <a:txBody>
                    <a:bodyPr/>
                    <a:lstStyle/>
                    <a:p>
                      <a:pPr algn="l" rtl="0" fontAlgn="b"/>
                      <a:r>
                        <a:rPr lang="es-MX" sz="1600" b="1" i="0" u="none" strike="noStrike" noProof="0" dirty="0">
                          <a:solidFill>
                            <a:schemeClr val="tx1"/>
                          </a:solidFill>
                          <a:effectLst/>
                          <a:latin typeface="+mn-lt"/>
                        </a:rPr>
                        <a:t>Cobertura mensual sin sitio web</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$600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18261053"/>
                  </a:ext>
                </a:extLst>
              </a:tr>
              <a:tr h="1317368">
                <a:tc>
                  <a:txBody>
                    <a:bodyPr/>
                    <a:lstStyle/>
                    <a:p>
                      <a:pPr lvl="0" algn="l" rtl="0" fontAlgn="b"/>
                      <a:r>
                        <a:rPr lang="es-MX" sz="1350" b="0" u="none" strike="noStrike" noProof="0" dirty="0">
                          <a:solidFill>
                            <a:schemeClr val="tx1"/>
                          </a:solidFill>
                          <a:effectLst/>
                        </a:rPr>
                        <a:t>Monitoreo de cobertura mediática 24/7 de temas de interés para el cliente</a:t>
                      </a:r>
                    </a:p>
                    <a:p>
                      <a:pPr lvl="0" algn="l" rtl="0" fontAlgn="b"/>
                      <a:r>
                        <a:rPr lang="es-MX" sz="1350" b="1" u="none" strike="noStrike" noProof="0" dirty="0">
                          <a:solidFill>
                            <a:schemeClr val="tx1"/>
                          </a:solidFill>
                          <a:effectLst/>
                        </a:rPr>
                        <a:t>Almacenamiento de contenido recabado en cobertura mediática para elaboración de briefs</a:t>
                      </a:r>
                    </a:p>
                    <a:p>
                      <a:pPr lvl="0" algn="l" rtl="0" fontAlgn="b"/>
                      <a:r>
                        <a:rPr lang="es-MX" altLang="es-MX" sz="1350" b="1" u="none" strike="noStrike" kern="1200" dirty="0">
                          <a:solidFill>
                            <a:schemeClr val="tx1"/>
                          </a:solidFill>
                          <a:effectLst/>
                          <a:latin typeface="+mn-lt"/>
                          <a:ea typeface="+mn-ea"/>
                          <a:cs typeface="+mn-cs"/>
                        </a:rPr>
                        <a:t>Sistema de briefs automatizados</a:t>
                      </a:r>
                      <a:endParaRPr lang="es-MX" sz="13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350" b="1" i="0" u="none" strike="noStrike" kern="1200" dirty="0">
                          <a:solidFill>
                            <a:schemeClr val="tx1"/>
                          </a:solidFill>
                          <a:effectLst/>
                          <a:latin typeface="+mn-lt"/>
                          <a:ea typeface="+mn-ea"/>
                          <a:cs typeface="+mn-cs"/>
                        </a:rPr>
                        <a:t>Reporte semanal de análisis que profundiza en desarrollos mediáticos de interés y ofrece una lectura estratégica de la situación</a:t>
                      </a:r>
                      <a:endParaRPr lang="es-MX" sz="13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3943050"/>
                  </a:ext>
                </a:extLst>
              </a:tr>
              <a:tr h="168400">
                <a:tc>
                  <a:txBody>
                    <a:bodyPr/>
                    <a:lstStyle/>
                    <a:p>
                      <a:pPr algn="l" rtl="0" fontAlgn="b"/>
                      <a:r>
                        <a:rPr lang="es-MX" sz="1600" b="1" i="0" u="none" strike="noStrike" noProof="0" dirty="0">
                          <a:solidFill>
                            <a:schemeClr val="tx1"/>
                          </a:solidFill>
                          <a:effectLst/>
                          <a:latin typeface="+mn-lt"/>
                        </a:rPr>
                        <a:t>Cobertura mensual solo alertas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$400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8411908"/>
                  </a:ext>
                </a:extLst>
              </a:tr>
              <a:tr h="797614">
                <a:tc>
                  <a:txBody>
                    <a:bodyPr/>
                    <a:lstStyle/>
                    <a:p>
                      <a:pPr lvl="0" algn="l" rtl="0" fontAlgn="b"/>
                      <a:r>
                        <a:rPr lang="es-MX" sz="1350" b="0" u="none" strike="noStrike" noProof="0" dirty="0">
                          <a:solidFill>
                            <a:schemeClr val="tx1"/>
                          </a:solidFill>
                          <a:effectLst/>
                        </a:rPr>
                        <a:t>Monitoreo de cobertura mediática 24/7 de temas de interés para el cliente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81401054"/>
                  </a:ext>
                </a:extLst>
              </a:tr>
            </a:tbl>
          </a:graphicData>
        </a:graphic>
      </p:graphicFrame>
    </p:spTree>
    <p:extLst>
      <p:ext uri="{BB962C8B-B14F-4D97-AF65-F5344CB8AC3E}">
        <p14:creationId xmlns:p14="http://schemas.microsoft.com/office/powerpoint/2010/main" val="253795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073091" y="1969839"/>
            <a:ext cx="2095064" cy="670919"/>
          </a:xfrm>
          <a:solidFill>
            <a:srgbClr val="F9F9F9">
              <a:alpha val="50000"/>
            </a:srgbClr>
          </a:solidFill>
        </p:spPr>
        <p:txBody>
          <a:bodyPr rtlCol="0" anchor="ctr"/>
          <a:lstStyle/>
          <a:p>
            <a:pPr algn="ctr" rtl="0"/>
            <a:r>
              <a:rPr lang="es-MX" noProof="0" dirty="0"/>
              <a:t>QUIÉN Soy</a:t>
            </a:r>
          </a:p>
        </p:txBody>
      </p:sp>
      <p:sp>
        <p:nvSpPr>
          <p:cNvPr id="3" name="Subtítulo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6429375" y="3428999"/>
            <a:ext cx="5382496" cy="2400300"/>
          </a:xfrm>
          <a:solidFill>
            <a:srgbClr val="F9F9F9">
              <a:alpha val="80000"/>
            </a:srgbClr>
          </a:solidFill>
        </p:spPr>
        <p:txBody>
          <a:bodyPr rtlCol="0" anchor="ctr">
            <a:normAutofit/>
          </a:bodyPr>
          <a:lstStyle/>
          <a:p>
            <a:pPr algn="ctr" rtl="0"/>
            <a:r>
              <a:rPr lang="es-ES" noProof="0" dirty="0"/>
              <a:t>Licenciado en Comunicación por la Universidad Panamericana con una especialidad en Minería y Análisis de Datos por el Tecnológico de Monterrey. Más de 10 años de experiencia como estratega de comunicación desarrollando campañas integrales potenciadas por el análisis de datos para gobiernos, candidatos, partidos políticos, ONG, grupos de interés y empresas en </a:t>
            </a:r>
            <a:r>
              <a:rPr lang="es-MX" dirty="0"/>
              <a:t>México, Estados Unidos, Colombia, Ecuador y Panamá, entre otros. </a:t>
            </a:r>
            <a:endParaRPr lang="es-MX" noProof="0" dirty="0"/>
          </a:p>
        </p:txBody>
      </p:sp>
      <p:sp>
        <p:nvSpPr>
          <p:cNvPr id="6" name="Marcador de fecha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s-MX" noProof="0" dirty="0"/>
              <a:t>2026</a:t>
            </a:r>
          </a:p>
        </p:txBody>
      </p:sp>
      <p:sp>
        <p:nvSpPr>
          <p:cNvPr id="5" name="Marcador de pie de página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s-MX" noProof="0" smtClean="0"/>
              <a:pPr rtl="0"/>
              <a:t>10</a:t>
            </a:fld>
            <a:endParaRPr lang="es-MX" noProof="0" dirty="0"/>
          </a:p>
        </p:txBody>
      </p:sp>
      <p:pic>
        <p:nvPicPr>
          <p:cNvPr id="8" name="Imagen 7">
            <a:extLst>
              <a:ext uri="{FF2B5EF4-FFF2-40B4-BE49-F238E27FC236}">
                <a16:creationId xmlns:a16="http://schemas.microsoft.com/office/drawing/2014/main" id="{A0AB3B20-AB5C-2DBF-0DF4-F255675A59A2}"/>
              </a:ext>
            </a:extLst>
          </p:cNvPr>
          <p:cNvPicPr>
            <a:picLocks noChangeAspect="1"/>
          </p:cNvPicPr>
          <p:nvPr/>
        </p:nvPicPr>
        <p:blipFill>
          <a:blip r:embed="rId3"/>
          <a:stretch>
            <a:fillRect/>
          </a:stretch>
        </p:blipFill>
        <p:spPr>
          <a:xfrm>
            <a:off x="851062" y="1969839"/>
            <a:ext cx="2935190" cy="2918321"/>
          </a:xfrm>
          <a:prstGeom prst="rect">
            <a:avLst/>
          </a:prstGeom>
        </p:spPr>
      </p:pic>
    </p:spTree>
    <p:extLst>
      <p:ext uri="{BB962C8B-B14F-4D97-AF65-F5344CB8AC3E}">
        <p14:creationId xmlns:p14="http://schemas.microsoft.com/office/powerpoint/2010/main" val="2243494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s-MX" noProof="0" dirty="0"/>
              <a:t>GRACIAS</a:t>
            </a:r>
          </a:p>
        </p:txBody>
      </p:sp>
      <p:sp>
        <p:nvSpPr>
          <p:cNvPr id="3" name="Marcador de posición de contenido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s-MX" noProof="0" dirty="0"/>
              <a:t>Luis Daniel Santiago Vidargas</a:t>
            </a:r>
          </a:p>
          <a:p>
            <a:pPr rtl="0"/>
            <a:r>
              <a:rPr lang="es-MX" noProof="0" dirty="0"/>
              <a:t>+52 55 41 86 17 61</a:t>
            </a:r>
          </a:p>
          <a:p>
            <a:pPr rtl="0"/>
            <a:r>
              <a:rPr lang="es-MX" noProof="0" dirty="0"/>
              <a:t>medios.monitoreo.plus@gmail.com</a:t>
            </a:r>
          </a:p>
        </p:txBody>
      </p:sp>
      <p:sp>
        <p:nvSpPr>
          <p:cNvPr id="6" name="Marcador de número de diapositiva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s-MX" noProof="0" smtClean="0"/>
              <a:pPr rtl="0"/>
              <a:t>11</a:t>
            </a:fld>
            <a:endParaRPr lang="es-MX" noProof="0" dirty="0"/>
          </a:p>
        </p:txBody>
      </p:sp>
      <p:sp>
        <p:nvSpPr>
          <p:cNvPr id="7" name="Marcador de pie de página 2">
            <a:extLst>
              <a:ext uri="{FF2B5EF4-FFF2-40B4-BE49-F238E27FC236}">
                <a16:creationId xmlns:a16="http://schemas.microsoft.com/office/drawing/2014/main" id="{405C5E0C-48DE-4427-7E5B-80C69C9E6D8A}"/>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8" name="Marcador de fecha 1">
            <a:extLst>
              <a:ext uri="{FF2B5EF4-FFF2-40B4-BE49-F238E27FC236}">
                <a16:creationId xmlns:a16="http://schemas.microsoft.com/office/drawing/2014/main" id="{59DA279A-99BC-73BE-3D17-EC50F1DC4BA8}"/>
              </a:ext>
            </a:extLst>
          </p:cNvPr>
          <p:cNvSpPr>
            <a:spLocks noGrp="1"/>
          </p:cNvSpPr>
          <p:nvPr>
            <p:ph type="dt" sz="half" idx="10"/>
          </p:nvPr>
        </p:nvSpPr>
        <p:spPr>
          <a:xfrm>
            <a:off x="838200" y="6356350"/>
            <a:ext cx="2743200" cy="365125"/>
          </a:xfrm>
        </p:spPr>
        <p:txBody>
          <a:bodyPr rtlCol="0"/>
          <a:lstStyle/>
          <a:p>
            <a:pPr rtl="0"/>
            <a:r>
              <a:rPr lang="es-MX" dirty="0"/>
              <a:t>2026</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9_TF56180624_Win32" id="{DA94138B-457B-4604-9749-588237BB90A3}" vid="{46A1F4DD-802B-4175-966B-E16743FC789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16c05727-aa75-4e4a-9b5f-8a80a1165891"/>
    <ds:schemaRef ds:uri="http://schemas.openxmlformats.org/package/2006/metadata/core-properties"/>
    <ds:schemaRef ds:uri="http://schemas.microsoft.com/office/infopath/2007/PartnerControls"/>
    <ds:schemaRef ds:uri="http://schemas.microsoft.com/office/2006/documentManagement/types"/>
    <ds:schemaRef ds:uri="http://schemas.microsoft.com/sharepoint/v3"/>
    <ds:schemaRef ds:uri="http://purl.org/dc/elements/1.1/"/>
    <ds:schemaRef ds:uri="230e9df3-be65-4c73-a93b-d1236ebd677e"/>
    <ds:schemaRef ds:uri="http://schemas.microsoft.com/office/2006/metadata/properties"/>
    <ds:schemaRef ds:uri="71af3243-3dd4-4a8d-8c0d-dd76da1f02a5"/>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5528</TotalTime>
  <Words>700</Words>
  <Application>Microsoft Office PowerPoint</Application>
  <PresentationFormat>Panorámica</PresentationFormat>
  <Paragraphs>97</Paragraphs>
  <Slides>11</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Tenorite</vt:lpstr>
      <vt:lpstr>Una sola línea</vt:lpstr>
      <vt:lpstr>Monitoreo + </vt:lpstr>
      <vt:lpstr>El Problema</vt:lpstr>
      <vt:lpstr>La herramienta</vt:lpstr>
      <vt:lpstr>Presentación de PowerPoint</vt:lpstr>
      <vt:lpstr>Presentación de PowerPoint</vt:lpstr>
      <vt:lpstr>Presentación de PowerPoint</vt:lpstr>
      <vt:lpstr>Presentación de PowerPoint</vt:lpstr>
      <vt:lpstr>Diversas fuentes de información</vt:lpstr>
      <vt:lpstr>Costo</vt:lpstr>
      <vt:lpstr>QUIÉN Soy</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Daniel Santiago Vidargas</dc:creator>
  <cp:lastModifiedBy>Luis Daniel Santiago Vidargas</cp:lastModifiedBy>
  <cp:revision>36</cp:revision>
  <dcterms:created xsi:type="dcterms:W3CDTF">2025-01-22T17:57:52Z</dcterms:created>
  <dcterms:modified xsi:type="dcterms:W3CDTF">2026-09-23T19:54:18Z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