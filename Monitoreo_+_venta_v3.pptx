
<file path=[Content_Types].xml><?xml version="1.0" encoding="utf-8"?>
<Types xmlns="http://schemas.openxmlformats.org/package/2006/content-types">
  <Default Extension="org&amp;utm_campaign=index&amp;utm_content=original" ContentType="image/pn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256" r:id="rId5"/>
    <p:sldId id="315" r:id="rId6"/>
    <p:sldId id="301" r:id="rId7"/>
    <p:sldId id="378" r:id="rId8"/>
    <p:sldId id="380" r:id="rId9"/>
    <p:sldId id="384" r:id="rId10"/>
    <p:sldId id="386" r:id="rId11"/>
    <p:sldId id="381" r:id="rId12"/>
    <p:sldId id="385" r:id="rId13"/>
    <p:sldId id="382" r:id="rId14"/>
    <p:sldId id="379" r:id="rId15"/>
    <p:sldId id="312" r:id="rId16"/>
    <p:sldId id="277" r:id="rId17"/>
    <p:sldId id="276" r:id="rId18"/>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6F3"/>
    <a:srgbClr val="E9E6DF"/>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2" d="100"/>
          <a:sy n="82" d="100"/>
        </p:scale>
        <p:origin x="710" y="5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3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01B0BA1-89F5-4C40-BE23-CE8523D4A38C}" type="datetime1">
              <a:rPr lang="es-MX" smtClean="0"/>
              <a:t>06/10/2026</a:t>
            </a:fld>
            <a:endParaRPr lang="es-MX"/>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MX" smtClean="0"/>
              <a:t>‹Nº›</a:t>
            </a:fld>
            <a:endParaRPr lang="es-MX"/>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ADEE56-102C-4AEE-A573-4F3D1550F9E4}" type="datetime1">
              <a:rPr lang="es-MX" smtClean="0"/>
              <a:pPr/>
              <a:t>06/10/2026</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MX" noProof="0" smtClean="0"/>
              <a:t>‹Nº›</a:t>
            </a:fld>
            <a:endParaRPr lang="es-MX"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a:t>
            </a:fld>
            <a:endParaRPr lang="es-MX" dirty="0"/>
          </a:p>
        </p:txBody>
      </p:sp>
    </p:spTree>
    <p:extLst>
      <p:ext uri="{BB962C8B-B14F-4D97-AF65-F5344CB8AC3E}">
        <p14:creationId xmlns:p14="http://schemas.microsoft.com/office/powerpoint/2010/main" val="270935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7FF4-E4F2-C7C6-1091-14BD93B2EB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2E29AF-AD3F-9F9D-94CF-6C5B7140BE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21E01C7-BB6F-8DF7-3946-0BCFC4451A5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EF63061-E2D4-386A-2263-2B11AF0A1420}"/>
              </a:ext>
            </a:extLst>
          </p:cNvPr>
          <p:cNvSpPr>
            <a:spLocks noGrp="1"/>
          </p:cNvSpPr>
          <p:nvPr>
            <p:ph type="sldNum" sz="quarter" idx="5"/>
          </p:nvPr>
        </p:nvSpPr>
        <p:spPr/>
        <p:txBody>
          <a:bodyPr/>
          <a:lstStyle/>
          <a:p>
            <a:pPr rtl="0"/>
            <a:fld id="{D4B9A9E5-4F7F-4A7D-9DE1-899232329269}" type="slidenum">
              <a:rPr lang="es-MX" smtClean="0"/>
              <a:t>3</a:t>
            </a:fld>
            <a:endParaRPr lang="es-MX" dirty="0"/>
          </a:p>
        </p:txBody>
      </p:sp>
    </p:spTree>
    <p:extLst>
      <p:ext uri="{BB962C8B-B14F-4D97-AF65-F5344CB8AC3E}">
        <p14:creationId xmlns:p14="http://schemas.microsoft.com/office/powerpoint/2010/main" val="4015419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61A69-93A3-0EB8-4029-D0A642F2658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0CDE29-A350-CFE5-E4B5-B6B2EB1067F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BE9311F-67D8-C019-FB83-555415669C7B}"/>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1764E2FB-1E2A-50B1-CD24-1FA52F97A1FD}"/>
              </a:ext>
            </a:extLst>
          </p:cNvPr>
          <p:cNvSpPr>
            <a:spLocks noGrp="1"/>
          </p:cNvSpPr>
          <p:nvPr>
            <p:ph type="sldNum" sz="quarter" idx="5"/>
          </p:nvPr>
        </p:nvSpPr>
        <p:spPr/>
        <p:txBody>
          <a:bodyPr/>
          <a:lstStyle/>
          <a:p>
            <a:pPr rtl="0"/>
            <a:fld id="{D4B9A9E5-4F7F-4A7D-9DE1-899232329269}" type="slidenum">
              <a:rPr lang="es-MX" smtClean="0"/>
              <a:t>4</a:t>
            </a:fld>
            <a:endParaRPr lang="es-MX"/>
          </a:p>
        </p:txBody>
      </p:sp>
    </p:spTree>
    <p:extLst>
      <p:ext uri="{BB962C8B-B14F-4D97-AF65-F5344CB8AC3E}">
        <p14:creationId xmlns:p14="http://schemas.microsoft.com/office/powerpoint/2010/main" val="74343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CB27F-E208-F627-4204-E825F8463A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072478-AFFC-C3C8-412E-223FBF8568AE}"/>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FEB89ADC-166B-D836-1625-88B9A52EA7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8DC3235-8815-A2AF-5587-DDAC5905118E}"/>
              </a:ext>
            </a:extLst>
          </p:cNvPr>
          <p:cNvSpPr>
            <a:spLocks noGrp="1"/>
          </p:cNvSpPr>
          <p:nvPr>
            <p:ph type="sldNum" sz="quarter" idx="5"/>
          </p:nvPr>
        </p:nvSpPr>
        <p:spPr/>
        <p:txBody>
          <a:bodyPr/>
          <a:lstStyle/>
          <a:p>
            <a:pPr rtl="0"/>
            <a:fld id="{D4B9A9E5-4F7F-4A7D-9DE1-899232329269}" type="slidenum">
              <a:rPr lang="es-MX" smtClean="0"/>
              <a:t>5</a:t>
            </a:fld>
            <a:endParaRPr lang="es-MX" dirty="0"/>
          </a:p>
        </p:txBody>
      </p:sp>
    </p:spTree>
    <p:extLst>
      <p:ext uri="{BB962C8B-B14F-4D97-AF65-F5344CB8AC3E}">
        <p14:creationId xmlns:p14="http://schemas.microsoft.com/office/powerpoint/2010/main" val="964496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D17FA-CDE6-1B9F-01EC-5389BF2383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BB7ACD-48B0-A054-77F0-271C47107213}"/>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1930EE6-3CF0-23C1-7773-7C69A754100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2F722CBA-D873-C9AC-D175-2F018C9393DD}"/>
              </a:ext>
            </a:extLst>
          </p:cNvPr>
          <p:cNvSpPr>
            <a:spLocks noGrp="1"/>
          </p:cNvSpPr>
          <p:nvPr>
            <p:ph type="sldNum" sz="quarter" idx="5"/>
          </p:nvPr>
        </p:nvSpPr>
        <p:spPr/>
        <p:txBody>
          <a:bodyPr/>
          <a:lstStyle/>
          <a:p>
            <a:pPr rtl="0"/>
            <a:fld id="{D4B9A9E5-4F7F-4A7D-9DE1-899232329269}" type="slidenum">
              <a:rPr lang="es-MX" smtClean="0"/>
              <a:t>6</a:t>
            </a:fld>
            <a:endParaRPr lang="es-MX" dirty="0"/>
          </a:p>
        </p:txBody>
      </p:sp>
    </p:spTree>
    <p:extLst>
      <p:ext uri="{BB962C8B-B14F-4D97-AF65-F5344CB8AC3E}">
        <p14:creationId xmlns:p14="http://schemas.microsoft.com/office/powerpoint/2010/main" val="3388844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17CDC-9368-E565-3DCD-5F7F657B70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C6E66B-0517-6AF9-1964-6C62D53E1748}"/>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6387880C-A2B9-9D19-023C-E8804771BBAA}"/>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96098841-2A6E-B4A1-3475-6590FC7C3983}"/>
              </a:ext>
            </a:extLst>
          </p:cNvPr>
          <p:cNvSpPr>
            <a:spLocks noGrp="1"/>
          </p:cNvSpPr>
          <p:nvPr>
            <p:ph type="sldNum" sz="quarter" idx="5"/>
          </p:nvPr>
        </p:nvSpPr>
        <p:spPr/>
        <p:txBody>
          <a:bodyPr/>
          <a:lstStyle/>
          <a:p>
            <a:pPr rtl="0"/>
            <a:fld id="{D4B9A9E5-4F7F-4A7D-9DE1-899232329269}" type="slidenum">
              <a:rPr lang="es-MX" smtClean="0"/>
              <a:t>7</a:t>
            </a:fld>
            <a:endParaRPr lang="es-MX" dirty="0"/>
          </a:p>
        </p:txBody>
      </p:sp>
    </p:spTree>
    <p:extLst>
      <p:ext uri="{BB962C8B-B14F-4D97-AF65-F5344CB8AC3E}">
        <p14:creationId xmlns:p14="http://schemas.microsoft.com/office/powerpoint/2010/main" val="1864778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5363-C90A-E069-E26F-45F29DF841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9538E2-6B44-2D5F-B1FF-80CF44A025A8}"/>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AFFC808-ED48-DC9E-3FBF-F382090A330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09C82E95-20A3-7610-4920-291732C9C794}"/>
              </a:ext>
            </a:extLst>
          </p:cNvPr>
          <p:cNvSpPr>
            <a:spLocks noGrp="1"/>
          </p:cNvSpPr>
          <p:nvPr>
            <p:ph type="sldNum" sz="quarter" idx="5"/>
          </p:nvPr>
        </p:nvSpPr>
        <p:spPr/>
        <p:txBody>
          <a:bodyPr/>
          <a:lstStyle/>
          <a:p>
            <a:pPr rtl="0"/>
            <a:fld id="{D4B9A9E5-4F7F-4A7D-9DE1-899232329269}" type="slidenum">
              <a:rPr lang="es-MX" smtClean="0"/>
              <a:t>8</a:t>
            </a:fld>
            <a:endParaRPr lang="es-MX" dirty="0"/>
          </a:p>
        </p:txBody>
      </p:sp>
    </p:spTree>
    <p:extLst>
      <p:ext uri="{BB962C8B-B14F-4D97-AF65-F5344CB8AC3E}">
        <p14:creationId xmlns:p14="http://schemas.microsoft.com/office/powerpoint/2010/main" val="3939183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F137D-BCDC-46B9-2B43-8DCA2F9136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79DDD8-2039-0EC6-1C41-5769612806E7}"/>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7F3B17E1-894B-F73E-4FB0-6ACE8F5BB0AA}"/>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E2BE7251-7F1B-7F3D-2311-DC4C1C6BC106}"/>
              </a:ext>
            </a:extLst>
          </p:cNvPr>
          <p:cNvSpPr>
            <a:spLocks noGrp="1"/>
          </p:cNvSpPr>
          <p:nvPr>
            <p:ph type="sldNum" sz="quarter" idx="5"/>
          </p:nvPr>
        </p:nvSpPr>
        <p:spPr/>
        <p:txBody>
          <a:bodyPr/>
          <a:lstStyle/>
          <a:p>
            <a:pPr rtl="0"/>
            <a:fld id="{D4B9A9E5-4F7F-4A7D-9DE1-899232329269}" type="slidenum">
              <a:rPr lang="es-MX" smtClean="0"/>
              <a:t>9</a:t>
            </a:fld>
            <a:endParaRPr lang="es-MX" dirty="0"/>
          </a:p>
        </p:txBody>
      </p:sp>
    </p:spTree>
    <p:extLst>
      <p:ext uri="{BB962C8B-B14F-4D97-AF65-F5344CB8AC3E}">
        <p14:creationId xmlns:p14="http://schemas.microsoft.com/office/powerpoint/2010/main" val="1634179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E365-29C4-DE31-B905-01F491EB17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68B948-CB34-81D9-730C-D22DED4A69C5}"/>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EE983E71-E686-E913-BEFE-9D0AF0DE8F4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44B1754-CD61-B8CB-B464-9080D7A3288D}"/>
              </a:ext>
            </a:extLst>
          </p:cNvPr>
          <p:cNvSpPr>
            <a:spLocks noGrp="1"/>
          </p:cNvSpPr>
          <p:nvPr>
            <p:ph type="sldNum" sz="quarter" idx="5"/>
          </p:nvPr>
        </p:nvSpPr>
        <p:spPr/>
        <p:txBody>
          <a:bodyPr/>
          <a:lstStyle/>
          <a:p>
            <a:pPr rtl="0"/>
            <a:fld id="{D4B9A9E5-4F7F-4A7D-9DE1-899232329269}" type="slidenum">
              <a:rPr lang="es-MX" smtClean="0"/>
              <a:t>10</a:t>
            </a:fld>
            <a:endParaRPr lang="es-MX" dirty="0"/>
          </a:p>
        </p:txBody>
      </p:sp>
    </p:spTree>
    <p:extLst>
      <p:ext uri="{BB962C8B-B14F-4D97-AF65-F5344CB8AC3E}">
        <p14:creationId xmlns:p14="http://schemas.microsoft.com/office/powerpoint/2010/main" val="2579451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62ACB-5885-6F2C-5223-6C928A38F2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91DC9A-7FDA-5C88-777C-BFD768921A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A03AE620-4BEA-3810-F4D5-0C1945A9F693}"/>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2759D39A-3159-6478-F2FE-F90C53581E63}"/>
              </a:ext>
            </a:extLst>
          </p:cNvPr>
          <p:cNvSpPr>
            <a:spLocks noGrp="1"/>
          </p:cNvSpPr>
          <p:nvPr>
            <p:ph type="sldNum" sz="quarter" idx="5"/>
          </p:nvPr>
        </p:nvSpPr>
        <p:spPr/>
        <p:txBody>
          <a:bodyPr/>
          <a:lstStyle/>
          <a:p>
            <a:pPr rtl="0"/>
            <a:fld id="{D4B9A9E5-4F7F-4A7D-9DE1-899232329269}" type="slidenum">
              <a:rPr lang="es-MX" smtClean="0"/>
              <a:t>11</a:t>
            </a:fld>
            <a:endParaRPr lang="es-MX"/>
          </a:p>
        </p:txBody>
      </p:sp>
    </p:spTree>
    <p:extLst>
      <p:ext uri="{BB962C8B-B14F-4D97-AF65-F5344CB8AC3E}">
        <p14:creationId xmlns:p14="http://schemas.microsoft.com/office/powerpoint/2010/main" val="784095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DAE8-1336-7E77-E8CD-F52F3E6DC4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FCFFE2-5B15-69D0-CB03-DAE8FF8E9D16}"/>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D2FFB45A-8058-348E-974E-AA326D9FD3C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FD7CE977-4D9A-26F2-1D17-A31BAC76253F}"/>
              </a:ext>
            </a:extLst>
          </p:cNvPr>
          <p:cNvSpPr>
            <a:spLocks noGrp="1"/>
          </p:cNvSpPr>
          <p:nvPr>
            <p:ph type="sldNum" sz="quarter" idx="5"/>
          </p:nvPr>
        </p:nvSpPr>
        <p:spPr/>
        <p:txBody>
          <a:bodyPr/>
          <a:lstStyle/>
          <a:p>
            <a:pPr rtl="0"/>
            <a:fld id="{D4B9A9E5-4F7F-4A7D-9DE1-899232329269}" type="slidenum">
              <a:rPr lang="es-MX" smtClean="0"/>
              <a:t>12</a:t>
            </a:fld>
            <a:endParaRPr lang="es-MX"/>
          </a:p>
        </p:txBody>
      </p:sp>
    </p:spTree>
    <p:extLst>
      <p:ext uri="{BB962C8B-B14F-4D97-AF65-F5344CB8AC3E}">
        <p14:creationId xmlns:p14="http://schemas.microsoft.com/office/powerpoint/2010/main" val="655945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13</a:t>
            </a:fld>
            <a:endParaRPr lang="es-MX" dirty="0"/>
          </a:p>
        </p:txBody>
      </p:sp>
    </p:spTree>
    <p:extLst>
      <p:ext uri="{BB962C8B-B14F-4D97-AF65-F5344CB8AC3E}">
        <p14:creationId xmlns:p14="http://schemas.microsoft.com/office/powerpoint/2010/main" val="2804650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rtlCol="0"/>
          <a:lstStyle/>
          <a:p>
            <a:pPr rtl="0"/>
            <a:endParaRPr lang="es-MX"/>
          </a:p>
        </p:txBody>
      </p:sp>
      <p:sp>
        <p:nvSpPr>
          <p:cNvPr id="4" name="Marcador de número de diapositiva 3"/>
          <p:cNvSpPr>
            <a:spLocks noGrp="1"/>
          </p:cNvSpPr>
          <p:nvPr>
            <p:ph type="sldNum" sz="quarter" idx="5"/>
          </p:nvPr>
        </p:nvSpPr>
        <p:spPr/>
        <p:txBody>
          <a:bodyPr rtlCol="0"/>
          <a:lstStyle/>
          <a:p>
            <a:pPr rtl="0"/>
            <a:fld id="{D4B9A9E5-4F7F-4A7D-9DE1-899232329269}" type="slidenum">
              <a:rPr lang="es-MX" smtClean="0"/>
              <a:t>14</a:t>
            </a:fld>
            <a:endParaRPr lang="es-MX"/>
          </a:p>
        </p:txBody>
      </p:sp>
    </p:spTree>
    <p:extLst>
      <p:ext uri="{BB962C8B-B14F-4D97-AF65-F5344CB8AC3E}">
        <p14:creationId xmlns:p14="http://schemas.microsoft.com/office/powerpoint/2010/main" val="1703282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ítulo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es-MX" noProof="0"/>
              <a:t>HAGA CLIC PARA EDITAR EL ESTILO DEL TÍTULO DEL PATRÓN</a:t>
            </a:r>
          </a:p>
        </p:txBody>
      </p:sp>
      <p:sp>
        <p:nvSpPr>
          <p:cNvPr id="3" name="Marcador de contenido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fecha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s-MX" noProof="0"/>
              <a:t>20XX</a:t>
            </a:r>
          </a:p>
        </p:txBody>
      </p:sp>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osición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es-MX" noProof="0"/>
              <a:t>Plataforma de presentación</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2"/>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MX" noProof="0" smtClean="0"/>
              <a:t>‹Nº›</a:t>
            </a:fld>
            <a:endParaRPr lang="es-MX" noProof="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áfico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es-MX" noProof="0"/>
              <a:t>HAZ CLIC PARA EDITAR EL ESTILO DEL TÍTULO DEL PATRÓN</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19" name="Marcador de posición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es contenid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mercado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6" name="Marcador de posición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a:p>
            <a:pPr lvl="1" rtl="0"/>
            <a:r>
              <a:rPr lang="es-ES" noProof="0"/>
              <a:t>Segundo nivel</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os objet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2" name="Rectángulo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38" name="Marcador de posición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es-MX" noProof="0"/>
              <a:t>Haz clic en el icono para agregar un elemento gráfico SmartArt</a:t>
            </a:r>
          </a:p>
        </p:txBody>
      </p:sp>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s-MX" noProof="0"/>
              <a:t>Plataforma de presentación</a:t>
            </a:r>
          </a:p>
        </p:txBody>
      </p:sp>
      <p:cxnSp>
        <p:nvCxnSpPr>
          <p:cNvPr id="10" name="Conector recto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Marcador de posición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s-MX" noProof="0" smtClean="0"/>
              <a:t>‹Nº›</a:t>
            </a:fld>
            <a:endParaRPr lang="es-MX" noProof="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contenido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posición de contenido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posición de contenido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posición de contenido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MX" noProof="0"/>
              <a:t>Haz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429355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íne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s-MX" noProof="0"/>
              <a:t>Presentación de lanzamiento</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832993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Financiación">
    <p:bg>
      <p:bgPr>
        <a:solidFill>
          <a:schemeClr val="bg1"/>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1" name="Marcador de contenido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contenido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contenido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contenido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1788326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MX"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s-MX" noProof="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 id="2147483701" r:id="rId20"/>
    <p:sldLayoutId id="2147483702"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22.png"/><Relationship Id="rId4" Type="http://schemas.openxmlformats.org/officeDocument/2006/relationships/image" Target="../media/image21.org&amp;utm_campaign=index&amp;utm_content=origi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s-MX" noProof="0" dirty="0"/>
              <a:t>Monitoreo </a:t>
            </a:r>
            <a:r>
              <a:rPr lang="es-MX" b="1" noProof="0" dirty="0"/>
              <a:t>+</a:t>
            </a:r>
            <a:r>
              <a:rPr lang="es-MX" noProof="0" dirty="0"/>
              <a:t> </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6096000" y="5553039"/>
            <a:ext cx="3918858" cy="396660"/>
          </a:xfrm>
        </p:spPr>
        <p:txBody>
          <a:bodyPr rtlCol="0">
            <a:normAutofit fontScale="77500" lnSpcReduction="20000"/>
          </a:bodyPr>
          <a:lstStyle/>
          <a:p>
            <a:pPr algn="ctr"/>
            <a:r>
              <a:rPr lang="es-MX" i="1" dirty="0"/>
              <a:t>Inteligencia informativa para saber qué está pasando, qué importa y qué cambió.</a:t>
            </a:r>
            <a:endParaRPr lang="es-MX"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022C9-D247-3827-71DA-D3778CA0E298}"/>
              </a:ext>
            </a:extLst>
          </p:cNvPr>
          <p:cNvSpPr>
            <a:spLocks noGrp="1"/>
          </p:cNvSpPr>
          <p:nvPr>
            <p:ph type="title"/>
          </p:nvPr>
        </p:nvSpPr>
        <p:spPr/>
        <p:txBody>
          <a:bodyPr anchor="ctr"/>
          <a:lstStyle/>
          <a:p>
            <a:pPr algn="ctr"/>
            <a:r>
              <a:rPr lang="es-MX" b="1" dirty="0"/>
              <a:t>El Problema</a:t>
            </a:r>
          </a:p>
        </p:txBody>
      </p:sp>
      <p:sp>
        <p:nvSpPr>
          <p:cNvPr id="3" name="Marcador de contenido 2">
            <a:extLst>
              <a:ext uri="{FF2B5EF4-FFF2-40B4-BE49-F238E27FC236}">
                <a16:creationId xmlns:a16="http://schemas.microsoft.com/office/drawing/2014/main" id="{DB183E17-56AC-A078-AD0E-7E38C3911DDA}"/>
              </a:ext>
            </a:extLst>
          </p:cNvPr>
          <p:cNvSpPr>
            <a:spLocks noGrp="1"/>
          </p:cNvSpPr>
          <p:nvPr>
            <p:ph idx="1"/>
          </p:nvPr>
        </p:nvSpPr>
        <p:spPr>
          <a:xfrm>
            <a:off x="1026369" y="2252703"/>
            <a:ext cx="3777536" cy="3097530"/>
          </a:xfrm>
        </p:spPr>
        <p:txBody>
          <a:bodyPr anchor="ctr">
            <a:normAutofit/>
          </a:bodyPr>
          <a:lstStyle/>
          <a:p>
            <a:pPr algn="just"/>
            <a:r>
              <a:rPr lang="es-MX" sz="1800" dirty="0"/>
              <a:t>En un entorno en el que estamos constantemente bombardeados por datos, el reto ya no está en acceder a la información, sino en poder </a:t>
            </a:r>
            <a:r>
              <a:rPr lang="es-MX" sz="1800" b="1" dirty="0"/>
              <a:t>separar la señal del ruido</a:t>
            </a:r>
            <a:r>
              <a:rPr lang="es-MX" sz="1800" dirty="0"/>
              <a:t>, identificar qué temas pueden </a:t>
            </a:r>
            <a:r>
              <a:rPr lang="es-MX" sz="1800" b="1" dirty="0"/>
              <a:t>afectar la reputación</a:t>
            </a:r>
            <a:r>
              <a:rPr lang="es-MX" sz="1800" dirty="0"/>
              <a:t>, cómo evolucionan y cuáles </a:t>
            </a:r>
            <a:r>
              <a:rPr lang="es-MX" sz="1800" u="sng" dirty="0"/>
              <a:t>requieren mayor atención</a:t>
            </a:r>
            <a:r>
              <a:rPr lang="es-MX" sz="1800" dirty="0"/>
              <a:t>.</a:t>
            </a:r>
          </a:p>
        </p:txBody>
      </p:sp>
      <p:sp>
        <p:nvSpPr>
          <p:cNvPr id="4" name="Marcador de fecha 3">
            <a:extLst>
              <a:ext uri="{FF2B5EF4-FFF2-40B4-BE49-F238E27FC236}">
                <a16:creationId xmlns:a16="http://schemas.microsoft.com/office/drawing/2014/main" id="{83BAD7BA-45F6-BC38-934A-5B82234A4AF2}"/>
              </a:ext>
            </a:extLst>
          </p:cNvPr>
          <p:cNvSpPr>
            <a:spLocks noGrp="1"/>
          </p:cNvSpPr>
          <p:nvPr>
            <p:ph type="dt" sz="half" idx="10"/>
          </p:nvPr>
        </p:nvSpPr>
        <p:spPr/>
        <p:txBody>
          <a:bodyPr/>
          <a:lstStyle/>
          <a:p>
            <a:pPr rtl="0"/>
            <a:r>
              <a:rPr lang="es-MX" noProof="0" dirty="0"/>
              <a:t>2026</a:t>
            </a:r>
          </a:p>
        </p:txBody>
      </p:sp>
      <p:sp>
        <p:nvSpPr>
          <p:cNvPr id="5" name="Marcador de pie de página 4">
            <a:extLst>
              <a:ext uri="{FF2B5EF4-FFF2-40B4-BE49-F238E27FC236}">
                <a16:creationId xmlns:a16="http://schemas.microsoft.com/office/drawing/2014/main" id="{01309026-093C-A6F6-E3A9-222535BB7027}"/>
              </a:ext>
            </a:extLst>
          </p:cNvPr>
          <p:cNvSpPr>
            <a:spLocks noGrp="1"/>
          </p:cNvSpPr>
          <p:nvPr>
            <p:ph type="ftr" sz="quarter" idx="11"/>
          </p:nvPr>
        </p:nvSpPr>
        <p:spPr/>
        <p:txBody>
          <a:bodyPr/>
          <a:lstStyle/>
          <a:p>
            <a:r>
              <a:rPr lang="es-MX" dirty="0"/>
              <a:t>Luis Daniel Santiago Vidargas – Monitoreo +</a:t>
            </a:r>
          </a:p>
        </p:txBody>
      </p:sp>
      <p:sp>
        <p:nvSpPr>
          <p:cNvPr id="6" name="Marcador de número de diapositiva 5">
            <a:extLst>
              <a:ext uri="{FF2B5EF4-FFF2-40B4-BE49-F238E27FC236}">
                <a16:creationId xmlns:a16="http://schemas.microsoft.com/office/drawing/2014/main" id="{457B61CA-EB08-9413-0F01-5FF954C15BEF}"/>
              </a:ext>
            </a:extLst>
          </p:cNvPr>
          <p:cNvSpPr>
            <a:spLocks noGrp="1"/>
          </p:cNvSpPr>
          <p:nvPr>
            <p:ph type="sldNum" sz="quarter" idx="12"/>
          </p:nvPr>
        </p:nvSpPr>
        <p:spPr/>
        <p:txBody>
          <a:bodyPr/>
          <a:lstStyle/>
          <a:p>
            <a:pPr rtl="0"/>
            <a:fld id="{B5CEABB6-07DC-46E8-9B57-56EC44A396E5}" type="slidenum">
              <a:rPr lang="es-MX" noProof="0" smtClean="0"/>
              <a:t>2</a:t>
            </a:fld>
            <a:endParaRPr lang="es-MX" noProof="0"/>
          </a:p>
        </p:txBody>
      </p:sp>
    </p:spTree>
    <p:extLst>
      <p:ext uri="{BB962C8B-B14F-4D97-AF65-F5344CB8AC3E}">
        <p14:creationId xmlns:p14="http://schemas.microsoft.com/office/powerpoint/2010/main" val="360706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103A7-7DC1-8477-D65D-0703C3FF89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7379D2-7288-AF11-106C-5960673677D3}"/>
              </a:ext>
            </a:extLst>
          </p:cNvPr>
          <p:cNvSpPr>
            <a:spLocks noGrp="1"/>
          </p:cNvSpPr>
          <p:nvPr>
            <p:ph type="title"/>
          </p:nvPr>
        </p:nvSpPr>
        <p:spPr>
          <a:xfrm>
            <a:off x="1885156" y="2674324"/>
            <a:ext cx="8421688" cy="1325563"/>
          </a:xfrm>
        </p:spPr>
        <p:txBody>
          <a:bodyPr rtlCol="0"/>
          <a:lstStyle/>
          <a:p>
            <a:pPr rtl="0"/>
            <a:r>
              <a:rPr lang="es-MX" b="1" noProof="0" dirty="0"/>
              <a:t>La herramienta</a:t>
            </a:r>
          </a:p>
        </p:txBody>
      </p:sp>
      <p:sp>
        <p:nvSpPr>
          <p:cNvPr id="3" name="Marcador de fecha 2">
            <a:extLst>
              <a:ext uri="{FF2B5EF4-FFF2-40B4-BE49-F238E27FC236}">
                <a16:creationId xmlns:a16="http://schemas.microsoft.com/office/drawing/2014/main" id="{06A61B0F-535B-5D4C-2CA0-8C96CDFF8D93}"/>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96B48885-0EA3-D615-E866-C2D7AC9C2798}"/>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3729AD4-9328-91AF-86C3-DD94A35D830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3</a:t>
            </a:fld>
            <a:endParaRPr lang="es-MX" noProof="0" dirty="0"/>
          </a:p>
        </p:txBody>
      </p:sp>
    </p:spTree>
    <p:extLst>
      <p:ext uri="{BB962C8B-B14F-4D97-AF65-F5344CB8AC3E}">
        <p14:creationId xmlns:p14="http://schemas.microsoft.com/office/powerpoint/2010/main" val="2655667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B1632-DAFE-6A84-D973-07BA3F4887ED}"/>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F244FCF-9611-CB35-C0CF-D5085CE2F4BC}"/>
              </a:ext>
            </a:extLst>
          </p:cNvPr>
          <p:cNvSpPr>
            <a:spLocks noGrp="1"/>
          </p:cNvSpPr>
          <p:nvPr>
            <p:ph type="body" sz="quarter" idx="13"/>
          </p:nvPr>
        </p:nvSpPr>
        <p:spPr>
          <a:xfrm>
            <a:off x="-338041" y="1303537"/>
            <a:ext cx="2780523" cy="791839"/>
          </a:xfrm>
        </p:spPr>
        <p:txBody>
          <a:bodyPr vert="horz" lIns="91440" tIns="45720" rIns="91440" bIns="45720" rtlCol="0" anchor="ctr">
            <a:normAutofit/>
          </a:bodyPr>
          <a:lstStyle/>
          <a:p>
            <a:r>
              <a:rPr lang="es-MX" dirty="0"/>
              <a:t>Monitoreo y detección</a:t>
            </a:r>
          </a:p>
        </p:txBody>
      </p:sp>
      <p:sp>
        <p:nvSpPr>
          <p:cNvPr id="4" name="Marcador de texto 3">
            <a:extLst>
              <a:ext uri="{FF2B5EF4-FFF2-40B4-BE49-F238E27FC236}">
                <a16:creationId xmlns:a16="http://schemas.microsoft.com/office/drawing/2014/main" id="{6CF362EB-1918-A91F-9E2F-A76D7BD75A40}"/>
              </a:ext>
            </a:extLst>
          </p:cNvPr>
          <p:cNvSpPr>
            <a:spLocks noGrp="1"/>
          </p:cNvSpPr>
          <p:nvPr>
            <p:ph type="body" sz="quarter" idx="14"/>
          </p:nvPr>
        </p:nvSpPr>
        <p:spPr>
          <a:xfrm>
            <a:off x="714375" y="2557463"/>
            <a:ext cx="2141764" cy="514350"/>
          </a:xfrm>
        </p:spPr>
        <p:txBody>
          <a:bodyPr rtlCol="0"/>
          <a:lstStyle/>
          <a:p>
            <a:r>
              <a:rPr lang="es-MX" dirty="0"/>
              <a:t>Filtro y clasificación</a:t>
            </a:r>
          </a:p>
        </p:txBody>
      </p:sp>
      <p:sp>
        <p:nvSpPr>
          <p:cNvPr id="5" name="Marcador de texto 4">
            <a:extLst>
              <a:ext uri="{FF2B5EF4-FFF2-40B4-BE49-F238E27FC236}">
                <a16:creationId xmlns:a16="http://schemas.microsoft.com/office/drawing/2014/main" id="{D7BF6B9F-7702-C8BE-669C-219819278D9D}"/>
              </a:ext>
            </a:extLst>
          </p:cNvPr>
          <p:cNvSpPr>
            <a:spLocks noGrp="1"/>
          </p:cNvSpPr>
          <p:nvPr>
            <p:ph type="body" sz="quarter" idx="15"/>
          </p:nvPr>
        </p:nvSpPr>
        <p:spPr>
          <a:xfrm>
            <a:off x="838200" y="3633788"/>
            <a:ext cx="2624364" cy="514350"/>
          </a:xfrm>
        </p:spPr>
        <p:txBody>
          <a:bodyPr rtlCol="0"/>
          <a:lstStyle/>
          <a:p>
            <a:r>
              <a:rPr lang="es-MX" dirty="0"/>
              <a:t>Priorización y síntesis</a:t>
            </a:r>
          </a:p>
        </p:txBody>
      </p:sp>
      <p:sp>
        <p:nvSpPr>
          <p:cNvPr id="6" name="Marcador de texto 5">
            <a:extLst>
              <a:ext uri="{FF2B5EF4-FFF2-40B4-BE49-F238E27FC236}">
                <a16:creationId xmlns:a16="http://schemas.microsoft.com/office/drawing/2014/main" id="{4D13C73F-5E6D-730D-7BEC-7E3ED3FE3BA7}"/>
              </a:ext>
            </a:extLst>
          </p:cNvPr>
          <p:cNvSpPr>
            <a:spLocks noGrp="1"/>
          </p:cNvSpPr>
          <p:nvPr>
            <p:ph type="body" sz="quarter" idx="16"/>
          </p:nvPr>
        </p:nvSpPr>
        <p:spPr>
          <a:xfrm>
            <a:off x="838200" y="4710114"/>
            <a:ext cx="3208564" cy="514350"/>
          </a:xfrm>
        </p:spPr>
        <p:txBody>
          <a:bodyPr rtlCol="0"/>
          <a:lstStyle/>
          <a:p>
            <a:r>
              <a:rPr lang="es-MX" dirty="0"/>
              <a:t>Resultados según su urgencia</a:t>
            </a:r>
          </a:p>
        </p:txBody>
      </p:sp>
      <p:sp>
        <p:nvSpPr>
          <p:cNvPr id="7" name="Marcador de texto 6">
            <a:extLst>
              <a:ext uri="{FF2B5EF4-FFF2-40B4-BE49-F238E27FC236}">
                <a16:creationId xmlns:a16="http://schemas.microsoft.com/office/drawing/2014/main" id="{3776D0EF-11E6-C957-5A39-631957B9BCF0}"/>
              </a:ext>
            </a:extLst>
          </p:cNvPr>
          <p:cNvSpPr>
            <a:spLocks noGrp="1"/>
          </p:cNvSpPr>
          <p:nvPr>
            <p:ph type="body" sz="quarter" idx="17"/>
          </p:nvPr>
        </p:nvSpPr>
        <p:spPr>
          <a:xfrm>
            <a:off x="4401535" y="1194036"/>
            <a:ext cx="7312839" cy="1010842"/>
          </a:xfrm>
        </p:spPr>
        <p:txBody>
          <a:bodyPr rtlCol="0" anchor="ctr"/>
          <a:lstStyle/>
          <a:p>
            <a:pPr algn="just"/>
            <a:r>
              <a:rPr lang="es-MX" dirty="0"/>
              <a:t>Monitorea diversas fuentes informativas, según la agenda de cada cliente, para detectar nuevos contenidos.</a:t>
            </a:r>
          </a:p>
        </p:txBody>
      </p:sp>
      <p:sp>
        <p:nvSpPr>
          <p:cNvPr id="8" name="Marcador de texto 7">
            <a:extLst>
              <a:ext uri="{FF2B5EF4-FFF2-40B4-BE49-F238E27FC236}">
                <a16:creationId xmlns:a16="http://schemas.microsoft.com/office/drawing/2014/main" id="{1828D45B-BA8B-F75A-DD00-3337593B883B}"/>
              </a:ext>
            </a:extLst>
          </p:cNvPr>
          <p:cNvSpPr>
            <a:spLocks noGrp="1"/>
          </p:cNvSpPr>
          <p:nvPr>
            <p:ph type="body" sz="quarter" idx="18"/>
          </p:nvPr>
        </p:nvSpPr>
        <p:spPr>
          <a:xfrm>
            <a:off x="4986028" y="2557463"/>
            <a:ext cx="6728346" cy="584605"/>
          </a:xfrm>
        </p:spPr>
        <p:txBody>
          <a:bodyPr rtlCol="0" anchor="ctr">
            <a:normAutofit/>
          </a:bodyPr>
          <a:lstStyle/>
          <a:p>
            <a:pPr algn="just"/>
            <a:r>
              <a:rPr lang="es-MX" dirty="0"/>
              <a:t>Filtra falsos positivos (publicidad, coincidencias de nombre) y clasifica la información por temas.</a:t>
            </a:r>
          </a:p>
        </p:txBody>
      </p:sp>
      <p:sp>
        <p:nvSpPr>
          <p:cNvPr id="9" name="Marcador de texto 8">
            <a:extLst>
              <a:ext uri="{FF2B5EF4-FFF2-40B4-BE49-F238E27FC236}">
                <a16:creationId xmlns:a16="http://schemas.microsoft.com/office/drawing/2014/main" id="{11E75D4D-51E5-BDCD-E7A8-4798B84F2DBB}"/>
              </a:ext>
            </a:extLst>
          </p:cNvPr>
          <p:cNvSpPr>
            <a:spLocks noGrp="1"/>
          </p:cNvSpPr>
          <p:nvPr>
            <p:ph type="body" sz="quarter" idx="19"/>
          </p:nvPr>
        </p:nvSpPr>
        <p:spPr>
          <a:xfrm>
            <a:off x="5576937" y="3592891"/>
            <a:ext cx="6137437" cy="584605"/>
          </a:xfrm>
        </p:spPr>
        <p:txBody>
          <a:bodyPr rtlCol="0" anchor="ctr">
            <a:normAutofit/>
          </a:bodyPr>
          <a:lstStyle/>
          <a:p>
            <a:pPr algn="just"/>
            <a:r>
              <a:rPr lang="es-MX" dirty="0"/>
              <a:t>Identifica y elimina coberturas repetidas o acontecimientos ya reportados para priorizar los desarrollos más relevantes y sintetizarlos.</a:t>
            </a:r>
          </a:p>
        </p:txBody>
      </p:sp>
      <p:sp>
        <p:nvSpPr>
          <p:cNvPr id="10" name="Marcador de texto 9">
            <a:extLst>
              <a:ext uri="{FF2B5EF4-FFF2-40B4-BE49-F238E27FC236}">
                <a16:creationId xmlns:a16="http://schemas.microsoft.com/office/drawing/2014/main" id="{BB75721D-5555-DA46-3B6B-B40F32253771}"/>
              </a:ext>
            </a:extLst>
          </p:cNvPr>
          <p:cNvSpPr>
            <a:spLocks noGrp="1"/>
          </p:cNvSpPr>
          <p:nvPr>
            <p:ph type="body" sz="quarter" idx="20"/>
          </p:nvPr>
        </p:nvSpPr>
        <p:spPr>
          <a:xfrm>
            <a:off x="6175279" y="4525867"/>
            <a:ext cx="5539095" cy="839534"/>
          </a:xfrm>
        </p:spPr>
        <p:txBody>
          <a:bodyPr rtlCol="0"/>
          <a:lstStyle/>
          <a:p>
            <a:pPr algn="just"/>
            <a:r>
              <a:rPr lang="es-MX" dirty="0"/>
              <a:t>Dependiendo de la relevancia de la noticia, se entrega mediante alertas inmediatas vía Telegram o a través de briefs periódicos con acceso directo a las fuentes originales.</a:t>
            </a:r>
          </a:p>
        </p:txBody>
      </p:sp>
      <p:sp>
        <p:nvSpPr>
          <p:cNvPr id="11" name="Marcador de fecha 10">
            <a:extLst>
              <a:ext uri="{FF2B5EF4-FFF2-40B4-BE49-F238E27FC236}">
                <a16:creationId xmlns:a16="http://schemas.microsoft.com/office/drawing/2014/main" id="{DBA4EC8C-89F1-5BF2-F0C0-A929431150AE}"/>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80" name="Marcador de pie de página 79">
            <a:extLst>
              <a:ext uri="{FF2B5EF4-FFF2-40B4-BE49-F238E27FC236}">
                <a16:creationId xmlns:a16="http://schemas.microsoft.com/office/drawing/2014/main" id="{AA9156BD-5EE9-A2ED-9B94-221559D61264}"/>
              </a:ext>
            </a:extLst>
          </p:cNvPr>
          <p:cNvSpPr>
            <a:spLocks noGrp="1"/>
          </p:cNvSpPr>
          <p:nvPr>
            <p:ph type="ftr" sz="quarter" idx="11"/>
          </p:nvPr>
        </p:nvSpPr>
        <p:spPr>
          <a:xfrm>
            <a:off x="5992610" y="6356350"/>
            <a:ext cx="2407054" cy="365125"/>
          </a:xfrm>
        </p:spPr>
        <p:txBody>
          <a:bodyPr rtlCol="0"/>
          <a:lstStyle/>
          <a:p>
            <a:r>
              <a:rPr lang="es-MX" dirty="0"/>
              <a:t>Luis Daniel Santiago Vidargas – Monitoreo +</a:t>
            </a:r>
          </a:p>
        </p:txBody>
      </p:sp>
      <p:sp>
        <p:nvSpPr>
          <p:cNvPr id="13" name="Marcador de número de diapositiva 12">
            <a:extLst>
              <a:ext uri="{FF2B5EF4-FFF2-40B4-BE49-F238E27FC236}">
                <a16:creationId xmlns:a16="http://schemas.microsoft.com/office/drawing/2014/main" id="{50182DF9-E6FA-F039-7235-4BA9B952B708}"/>
              </a:ext>
            </a:extLst>
          </p:cNvPr>
          <p:cNvSpPr>
            <a:spLocks noGrp="1"/>
          </p:cNvSpPr>
          <p:nvPr>
            <p:ph type="sldNum" sz="quarter" idx="12"/>
          </p:nvPr>
        </p:nvSpPr>
        <p:spPr>
          <a:xfrm>
            <a:off x="10810874" y="6356350"/>
            <a:ext cx="542925" cy="365125"/>
          </a:xfrm>
        </p:spPr>
        <p:txBody>
          <a:bodyPr rtlCol="0"/>
          <a:lstStyle/>
          <a:p>
            <a:pPr rtl="0"/>
            <a:fld id="{B5CEABB6-07DC-46E8-9B57-56EC44A396E5}" type="slidenum">
              <a:rPr lang="es-MX" smtClean="0"/>
              <a:pPr rtl="0"/>
              <a:t>4</a:t>
            </a:fld>
            <a:endParaRPr lang="es-MX"/>
          </a:p>
        </p:txBody>
      </p:sp>
      <p:sp>
        <p:nvSpPr>
          <p:cNvPr id="2" name="Título 1">
            <a:extLst>
              <a:ext uri="{FF2B5EF4-FFF2-40B4-BE49-F238E27FC236}">
                <a16:creationId xmlns:a16="http://schemas.microsoft.com/office/drawing/2014/main" id="{F2FFC68B-1CB3-3DE6-AA01-860A6862654D}"/>
              </a:ext>
            </a:extLst>
          </p:cNvPr>
          <p:cNvSpPr txBox="1">
            <a:spLocks/>
          </p:cNvSpPr>
          <p:nvPr/>
        </p:nvSpPr>
        <p:spPr>
          <a:xfrm>
            <a:off x="35609" y="150190"/>
            <a:ext cx="10775265" cy="7689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s-MX" sz="1600" b="1" dirty="0"/>
              <a:t>Monitoreo +</a:t>
            </a:r>
          </a:p>
          <a:p>
            <a:pPr algn="just"/>
            <a:r>
              <a:rPr lang="es-MX" sz="1600" cap="none" dirty="0"/>
              <a:t>Transforma un flujo constante de publicaciones en información útil para la toma de decisiones</a:t>
            </a:r>
          </a:p>
        </p:txBody>
      </p:sp>
      <p:cxnSp>
        <p:nvCxnSpPr>
          <p:cNvPr id="14" name="Conector recto 13">
            <a:extLst>
              <a:ext uri="{FF2B5EF4-FFF2-40B4-BE49-F238E27FC236}">
                <a16:creationId xmlns:a16="http://schemas.microsoft.com/office/drawing/2014/main" id="{E162EF51-5F42-F16A-DCCA-54573B33F46B}"/>
              </a:ext>
            </a:extLst>
          </p:cNvPr>
          <p:cNvCxnSpPr/>
          <p:nvPr/>
        </p:nvCxnSpPr>
        <p:spPr>
          <a:xfrm>
            <a:off x="4997108" y="5971592"/>
            <a:ext cx="1504743" cy="0"/>
          </a:xfrm>
          <a:prstGeom prst="line">
            <a:avLst/>
          </a:prstGeom>
        </p:spPr>
        <p:style>
          <a:lnRef idx="1">
            <a:schemeClr val="dk1"/>
          </a:lnRef>
          <a:fillRef idx="0">
            <a:schemeClr val="dk1"/>
          </a:fillRef>
          <a:effectRef idx="0">
            <a:schemeClr val="dk1"/>
          </a:effectRef>
          <a:fontRef idx="minor">
            <a:schemeClr val="tx1"/>
          </a:fontRef>
        </p:style>
      </p:cxnSp>
      <p:sp>
        <p:nvSpPr>
          <p:cNvPr id="17" name="Marcador de texto 5">
            <a:extLst>
              <a:ext uri="{FF2B5EF4-FFF2-40B4-BE49-F238E27FC236}">
                <a16:creationId xmlns:a16="http://schemas.microsoft.com/office/drawing/2014/main" id="{E500D83C-6EAA-A3E9-906C-930FD4FF2F69}"/>
              </a:ext>
            </a:extLst>
          </p:cNvPr>
          <p:cNvSpPr txBox="1">
            <a:spLocks/>
          </p:cNvSpPr>
          <p:nvPr/>
        </p:nvSpPr>
        <p:spPr>
          <a:xfrm>
            <a:off x="1418253" y="5714417"/>
            <a:ext cx="3378070" cy="514350"/>
          </a:xfrm>
          <a:prstGeom prst="rect">
            <a:avLst/>
          </a:prstGeom>
        </p:spPr>
        <p:txBody>
          <a:bodyPr vert="horz" lIns="91440" tIns="45720" rIns="91440" bIns="45720" rtlCol="0" anchor="ctr">
            <a:noAutofit/>
          </a:bodyPr>
          <a:lstStyle>
            <a:lvl1pPr marL="0" indent="0" algn="r" defTabSz="914400" rtl="0" eaLnBrk="1" latinLnBrk="0" hangingPunct="1">
              <a:lnSpc>
                <a:spcPct val="90000"/>
              </a:lnSpc>
              <a:spcBef>
                <a:spcPts val="1000"/>
              </a:spcBef>
              <a:buFont typeface="Arial" panose="020B0604020202020204" pitchFamily="34" charset="0"/>
              <a:buNone/>
              <a:defRPr sz="1600" kern="1200" cap="all" spc="1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dirty="0"/>
              <a:t>SEGUIMIENTO REPUTACIONAL</a:t>
            </a:r>
          </a:p>
        </p:txBody>
      </p:sp>
      <p:sp>
        <p:nvSpPr>
          <p:cNvPr id="18" name="Marcador de texto 9">
            <a:extLst>
              <a:ext uri="{FF2B5EF4-FFF2-40B4-BE49-F238E27FC236}">
                <a16:creationId xmlns:a16="http://schemas.microsoft.com/office/drawing/2014/main" id="{EC432709-CA09-783D-C23A-8FC6AE2565FA}"/>
              </a:ext>
            </a:extLst>
          </p:cNvPr>
          <p:cNvSpPr txBox="1">
            <a:spLocks/>
          </p:cNvSpPr>
          <p:nvPr/>
        </p:nvSpPr>
        <p:spPr>
          <a:xfrm>
            <a:off x="6652905" y="5556887"/>
            <a:ext cx="5061469" cy="839534"/>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MX" dirty="0"/>
              <a:t>Agrupa publicaciones sobre un mismo asunto, actualiza su evolución y detecta cambios que activan alertas según criterios definidos con el cliente.</a:t>
            </a:r>
          </a:p>
        </p:txBody>
      </p:sp>
    </p:spTree>
    <p:extLst>
      <p:ext uri="{BB962C8B-B14F-4D97-AF65-F5344CB8AC3E}">
        <p14:creationId xmlns:p14="http://schemas.microsoft.com/office/powerpoint/2010/main" val="637589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4A25-426D-59AB-907E-6B7AEC3C3AEF}"/>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8B19E93A-A4DE-F97D-E345-A0740B5AB86D}"/>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B858E51F-5337-5982-0328-9F3618259F4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894B13C7-8926-C2C8-8A99-6483B7A0EA3F}"/>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5</a:t>
            </a:fld>
            <a:endParaRPr lang="es-MX" noProof="0" dirty="0"/>
          </a:p>
        </p:txBody>
      </p:sp>
      <p:sp>
        <p:nvSpPr>
          <p:cNvPr id="14" name="Marcador de pie de página 3">
            <a:extLst>
              <a:ext uri="{FF2B5EF4-FFF2-40B4-BE49-F238E27FC236}">
                <a16:creationId xmlns:a16="http://schemas.microsoft.com/office/drawing/2014/main" id="{C55E8044-89A4-C642-9854-3CFE47FDED88}"/>
              </a:ext>
            </a:extLst>
          </p:cNvPr>
          <p:cNvSpPr txBox="1">
            <a:spLocks/>
          </p:cNvSpPr>
          <p:nvPr/>
        </p:nvSpPr>
        <p:spPr>
          <a:xfrm>
            <a:off x="7775121" y="1589151"/>
            <a:ext cx="4114799" cy="367969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400" b="1" dirty="0">
                <a:solidFill>
                  <a:schemeClr val="bg2">
                    <a:lumMod val="25000"/>
                  </a:schemeClr>
                </a:solidFill>
              </a:rPr>
              <a:t>Sitio web privado </a:t>
            </a:r>
            <a:r>
              <a:rPr lang="es-MX" sz="2400" dirty="0">
                <a:solidFill>
                  <a:schemeClr val="bg2">
                    <a:lumMod val="25000"/>
                  </a:schemeClr>
                </a:solidFill>
              </a:rPr>
              <a:t>que produce un </a:t>
            </a:r>
            <a:r>
              <a:rPr lang="es-MX" sz="2400" b="1" dirty="0">
                <a:solidFill>
                  <a:schemeClr val="bg2">
                    <a:lumMod val="25000"/>
                  </a:schemeClr>
                </a:solidFill>
              </a:rPr>
              <a:t>brief automatizado </a:t>
            </a:r>
            <a:r>
              <a:rPr lang="es-MX" sz="2400" dirty="0">
                <a:solidFill>
                  <a:schemeClr val="bg2">
                    <a:lumMod val="25000"/>
                  </a:schemeClr>
                </a:solidFill>
              </a:rPr>
              <a:t>sobre la cobertura mediática del día, mismo que </a:t>
            </a:r>
            <a:r>
              <a:rPr lang="es-MX" sz="2400" b="1" dirty="0">
                <a:solidFill>
                  <a:schemeClr val="bg2">
                    <a:lumMod val="25000"/>
                  </a:schemeClr>
                </a:solidFill>
              </a:rPr>
              <a:t>se actualiza cada vez que cae una nueva noticia</a:t>
            </a:r>
            <a:r>
              <a:rPr lang="es-MX" sz="2400" dirty="0">
                <a:solidFill>
                  <a:schemeClr val="bg2">
                    <a:lumMod val="25000"/>
                  </a:schemeClr>
                </a:solidFill>
              </a:rPr>
              <a:t> y lo almacena para ser </a:t>
            </a:r>
            <a:r>
              <a:rPr lang="es-MX" sz="2400" b="1" dirty="0">
                <a:solidFill>
                  <a:schemeClr val="bg2">
                    <a:lumMod val="25000"/>
                  </a:schemeClr>
                </a:solidFill>
              </a:rPr>
              <a:t>consultado </a:t>
            </a:r>
            <a:r>
              <a:rPr lang="es-MX" sz="2400" b="1" dirty="0">
                <a:solidFill>
                  <a:schemeClr val="tx1"/>
                </a:solidFill>
              </a:rPr>
              <a:t>en cualquier momento</a:t>
            </a:r>
          </a:p>
        </p:txBody>
      </p:sp>
      <p:pic>
        <p:nvPicPr>
          <p:cNvPr id="8" name="Imagen 7">
            <a:extLst>
              <a:ext uri="{FF2B5EF4-FFF2-40B4-BE49-F238E27FC236}">
                <a16:creationId xmlns:a16="http://schemas.microsoft.com/office/drawing/2014/main" id="{EEDE2A79-7235-7FAC-3435-CCA6D352A14C}"/>
              </a:ext>
            </a:extLst>
          </p:cNvPr>
          <p:cNvPicPr>
            <a:picLocks noChangeAspect="1"/>
          </p:cNvPicPr>
          <p:nvPr/>
        </p:nvPicPr>
        <p:blipFill>
          <a:blip r:embed="rId3"/>
          <a:stretch>
            <a:fillRect/>
          </a:stretch>
        </p:blipFill>
        <p:spPr>
          <a:xfrm>
            <a:off x="302080" y="805544"/>
            <a:ext cx="7202452" cy="5246911"/>
          </a:xfrm>
          <a:prstGeom prst="rect">
            <a:avLst/>
          </a:prstGeom>
        </p:spPr>
      </p:pic>
    </p:spTree>
    <p:extLst>
      <p:ext uri="{BB962C8B-B14F-4D97-AF65-F5344CB8AC3E}">
        <p14:creationId xmlns:p14="http://schemas.microsoft.com/office/powerpoint/2010/main" val="148018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4584-61CF-5D3B-355A-C3D78F58A9AA}"/>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A3AF62E5-4C1F-888C-7C6B-504E281F5D4F}"/>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D70D0F0A-A318-8D64-D154-C3554535E1DC}"/>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97B55719-407D-DEA1-0C83-902FFCB14A5F}"/>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6</a:t>
            </a:fld>
            <a:endParaRPr lang="es-MX" noProof="0" dirty="0"/>
          </a:p>
        </p:txBody>
      </p:sp>
      <p:sp>
        <p:nvSpPr>
          <p:cNvPr id="16" name="Marcador de pie de página 3">
            <a:extLst>
              <a:ext uri="{FF2B5EF4-FFF2-40B4-BE49-F238E27FC236}">
                <a16:creationId xmlns:a16="http://schemas.microsoft.com/office/drawing/2014/main" id="{5F3D09C0-D2F8-5F66-1BB1-6F293A097ED4}"/>
              </a:ext>
            </a:extLst>
          </p:cNvPr>
          <p:cNvSpPr txBox="1">
            <a:spLocks/>
          </p:cNvSpPr>
          <p:nvPr/>
        </p:nvSpPr>
        <p:spPr>
          <a:xfrm>
            <a:off x="205275" y="2185500"/>
            <a:ext cx="5085184" cy="1611130"/>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400" dirty="0">
                <a:solidFill>
                  <a:schemeClr val="bg2">
                    <a:lumMod val="25000"/>
                  </a:schemeClr>
                </a:solidFill>
              </a:rPr>
              <a:t>Despliegue de los </a:t>
            </a:r>
            <a:r>
              <a:rPr lang="es-MX" sz="2400" b="1" dirty="0">
                <a:solidFill>
                  <a:schemeClr val="bg2">
                    <a:lumMod val="25000"/>
                  </a:schemeClr>
                </a:solidFill>
              </a:rPr>
              <a:t>titulares utilizados para el brief</a:t>
            </a:r>
            <a:r>
              <a:rPr lang="es-MX" sz="2400" dirty="0">
                <a:solidFill>
                  <a:schemeClr val="bg2">
                    <a:lumMod val="25000"/>
                  </a:schemeClr>
                </a:solidFill>
              </a:rPr>
              <a:t>, acompañado de su </a:t>
            </a:r>
            <a:r>
              <a:rPr lang="es-MX" sz="2400" b="1" dirty="0">
                <a:solidFill>
                  <a:schemeClr val="bg2">
                    <a:lumMod val="25000"/>
                  </a:schemeClr>
                </a:solidFill>
              </a:rPr>
              <a:t>respectivo link</a:t>
            </a:r>
          </a:p>
        </p:txBody>
      </p:sp>
      <p:pic>
        <p:nvPicPr>
          <p:cNvPr id="10" name="Imagen 9">
            <a:extLst>
              <a:ext uri="{FF2B5EF4-FFF2-40B4-BE49-F238E27FC236}">
                <a16:creationId xmlns:a16="http://schemas.microsoft.com/office/drawing/2014/main" id="{D36C9328-B804-63C8-4102-CB196FB336F2}"/>
              </a:ext>
            </a:extLst>
          </p:cNvPr>
          <p:cNvPicPr>
            <a:picLocks noChangeAspect="1"/>
          </p:cNvPicPr>
          <p:nvPr/>
        </p:nvPicPr>
        <p:blipFill>
          <a:blip r:embed="rId3"/>
          <a:stretch>
            <a:fillRect/>
          </a:stretch>
        </p:blipFill>
        <p:spPr>
          <a:xfrm>
            <a:off x="5432362" y="327779"/>
            <a:ext cx="6051785" cy="5326572"/>
          </a:xfrm>
          <a:prstGeom prst="rect">
            <a:avLst/>
          </a:prstGeom>
        </p:spPr>
      </p:pic>
    </p:spTree>
    <p:extLst>
      <p:ext uri="{BB962C8B-B14F-4D97-AF65-F5344CB8AC3E}">
        <p14:creationId xmlns:p14="http://schemas.microsoft.com/office/powerpoint/2010/main" val="783530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FFBDF-C204-CB41-CB5C-A5CAAAA4444F}"/>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92DA8D16-52C8-6A37-FB29-89609744FB17}"/>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B4DC12A6-B2E5-8304-7226-83B32171A6AC}"/>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28379065-A933-072B-F3C7-F0A7F7D28301}"/>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7</a:t>
            </a:fld>
            <a:endParaRPr lang="es-MX" noProof="0" dirty="0"/>
          </a:p>
        </p:txBody>
      </p:sp>
      <p:sp>
        <p:nvSpPr>
          <p:cNvPr id="14" name="Marcador de pie de página 3">
            <a:extLst>
              <a:ext uri="{FF2B5EF4-FFF2-40B4-BE49-F238E27FC236}">
                <a16:creationId xmlns:a16="http://schemas.microsoft.com/office/drawing/2014/main" id="{BE71ADE8-E05C-E4AE-35BA-5E4960EB71A9}"/>
              </a:ext>
            </a:extLst>
          </p:cNvPr>
          <p:cNvSpPr txBox="1">
            <a:spLocks/>
          </p:cNvSpPr>
          <p:nvPr/>
        </p:nvSpPr>
        <p:spPr>
          <a:xfrm>
            <a:off x="5701592" y="2455880"/>
            <a:ext cx="4903616" cy="1946239"/>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400" b="1" dirty="0">
                <a:solidFill>
                  <a:schemeClr val="bg2">
                    <a:lumMod val="25000"/>
                  </a:schemeClr>
                </a:solidFill>
              </a:rPr>
              <a:t>Briefs periódicos</a:t>
            </a:r>
            <a:r>
              <a:rPr lang="es-MX" sz="2400" dirty="0">
                <a:solidFill>
                  <a:schemeClr val="bg2">
                    <a:lumMod val="25000"/>
                  </a:schemeClr>
                </a:solidFill>
              </a:rPr>
              <a:t> entregados vía </a:t>
            </a:r>
            <a:r>
              <a:rPr lang="es-MX" sz="2400" b="1" dirty="0">
                <a:solidFill>
                  <a:schemeClr val="bg2">
                    <a:lumMod val="25000"/>
                  </a:schemeClr>
                </a:solidFill>
              </a:rPr>
              <a:t>Telegram</a:t>
            </a:r>
            <a:r>
              <a:rPr lang="es-MX" sz="2400" dirty="0">
                <a:solidFill>
                  <a:schemeClr val="bg2">
                    <a:lumMod val="25000"/>
                  </a:schemeClr>
                </a:solidFill>
              </a:rPr>
              <a:t>, resumiendo los </a:t>
            </a:r>
            <a:r>
              <a:rPr lang="es-MX" sz="2400" b="1" dirty="0">
                <a:solidFill>
                  <a:schemeClr val="bg2">
                    <a:lumMod val="25000"/>
                  </a:schemeClr>
                </a:solidFill>
              </a:rPr>
              <a:t>temas más relevantes</a:t>
            </a:r>
            <a:r>
              <a:rPr lang="es-MX" sz="2400" dirty="0">
                <a:solidFill>
                  <a:schemeClr val="bg2">
                    <a:lumMod val="25000"/>
                  </a:schemeClr>
                </a:solidFill>
              </a:rPr>
              <a:t> junto con una </a:t>
            </a:r>
            <a:r>
              <a:rPr lang="es-MX" sz="2400" b="1" dirty="0">
                <a:solidFill>
                  <a:schemeClr val="bg2">
                    <a:lumMod val="25000"/>
                  </a:schemeClr>
                </a:solidFill>
              </a:rPr>
              <a:t>selección de contenidos</a:t>
            </a:r>
            <a:endParaRPr lang="es-MX" sz="2400" dirty="0">
              <a:solidFill>
                <a:schemeClr val="bg2">
                  <a:lumMod val="25000"/>
                </a:schemeClr>
              </a:solidFill>
            </a:endParaRPr>
          </a:p>
        </p:txBody>
      </p:sp>
      <p:pic>
        <p:nvPicPr>
          <p:cNvPr id="8" name="Imagen 7">
            <a:extLst>
              <a:ext uri="{FF2B5EF4-FFF2-40B4-BE49-F238E27FC236}">
                <a16:creationId xmlns:a16="http://schemas.microsoft.com/office/drawing/2014/main" id="{BB4B252C-A083-CE9F-68F9-6FDB0274DBDB}"/>
              </a:ext>
            </a:extLst>
          </p:cNvPr>
          <p:cNvPicPr>
            <a:picLocks noChangeAspect="1"/>
          </p:cNvPicPr>
          <p:nvPr/>
        </p:nvPicPr>
        <p:blipFill>
          <a:blip r:embed="rId3"/>
          <a:srcRect t="4484" b="858"/>
          <a:stretch>
            <a:fillRect/>
          </a:stretch>
        </p:blipFill>
        <p:spPr>
          <a:xfrm>
            <a:off x="110033" y="244416"/>
            <a:ext cx="4517951" cy="6111934"/>
          </a:xfrm>
          <a:prstGeom prst="rect">
            <a:avLst/>
          </a:prstGeom>
        </p:spPr>
      </p:pic>
    </p:spTree>
    <p:extLst>
      <p:ext uri="{BB962C8B-B14F-4D97-AF65-F5344CB8AC3E}">
        <p14:creationId xmlns:p14="http://schemas.microsoft.com/office/powerpoint/2010/main" val="569005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D8EF-A19C-779A-9FDD-D61340B16289}"/>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E22D16EF-D6CA-0877-C7BC-072FA81FC3E4}"/>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CA0DC166-FBCA-FCED-D115-67EC4075B44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38052480-61D3-77E5-90BB-D16CAD081577}"/>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8</a:t>
            </a:fld>
            <a:endParaRPr lang="es-MX" noProof="0" dirty="0"/>
          </a:p>
        </p:txBody>
      </p:sp>
      <p:sp>
        <p:nvSpPr>
          <p:cNvPr id="16" name="Marcador de pie de página 3">
            <a:extLst>
              <a:ext uri="{FF2B5EF4-FFF2-40B4-BE49-F238E27FC236}">
                <a16:creationId xmlns:a16="http://schemas.microsoft.com/office/drawing/2014/main" id="{268DBD6D-28A9-75DF-5282-3F76707C0AA9}"/>
              </a:ext>
            </a:extLst>
          </p:cNvPr>
          <p:cNvSpPr txBox="1">
            <a:spLocks/>
          </p:cNvSpPr>
          <p:nvPr/>
        </p:nvSpPr>
        <p:spPr>
          <a:xfrm>
            <a:off x="93306" y="2002956"/>
            <a:ext cx="3713583" cy="2662349"/>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400" b="1" dirty="0">
                <a:solidFill>
                  <a:schemeClr val="bg2">
                    <a:lumMod val="25000"/>
                  </a:schemeClr>
                </a:solidFill>
              </a:rPr>
              <a:t>Alertas inmediatas vía Telegram </a:t>
            </a:r>
            <a:r>
              <a:rPr lang="es-MX" sz="2400" dirty="0">
                <a:solidFill>
                  <a:schemeClr val="bg2">
                    <a:lumMod val="25000"/>
                  </a:schemeClr>
                </a:solidFill>
              </a:rPr>
              <a:t>para menciones de actores o temas específicos (en el titular o en el contenido) en </a:t>
            </a:r>
            <a:r>
              <a:rPr lang="es-MX" sz="2400" b="1" dirty="0">
                <a:solidFill>
                  <a:schemeClr val="bg2">
                    <a:lumMod val="25000"/>
                  </a:schemeClr>
                </a:solidFill>
              </a:rPr>
              <a:t>medios digitales, X o YouTube</a:t>
            </a:r>
          </a:p>
        </p:txBody>
      </p:sp>
      <p:pic>
        <p:nvPicPr>
          <p:cNvPr id="6" name="Imagen 5">
            <a:extLst>
              <a:ext uri="{FF2B5EF4-FFF2-40B4-BE49-F238E27FC236}">
                <a16:creationId xmlns:a16="http://schemas.microsoft.com/office/drawing/2014/main" id="{67D267C4-2C99-5DFC-D528-B56CEF06AE8F}"/>
              </a:ext>
            </a:extLst>
          </p:cNvPr>
          <p:cNvPicPr>
            <a:picLocks noChangeAspect="1"/>
          </p:cNvPicPr>
          <p:nvPr/>
        </p:nvPicPr>
        <p:blipFill>
          <a:blip r:embed="rId3"/>
          <a:stretch>
            <a:fillRect/>
          </a:stretch>
        </p:blipFill>
        <p:spPr>
          <a:xfrm>
            <a:off x="3900196" y="136525"/>
            <a:ext cx="3638141" cy="6164219"/>
          </a:xfrm>
          <a:prstGeom prst="rect">
            <a:avLst/>
          </a:prstGeom>
        </p:spPr>
      </p:pic>
      <p:pic>
        <p:nvPicPr>
          <p:cNvPr id="12" name="Imagen 11">
            <a:extLst>
              <a:ext uri="{FF2B5EF4-FFF2-40B4-BE49-F238E27FC236}">
                <a16:creationId xmlns:a16="http://schemas.microsoft.com/office/drawing/2014/main" id="{F299AC7D-70EF-5D97-5CF1-538763D5059A}"/>
              </a:ext>
            </a:extLst>
          </p:cNvPr>
          <p:cNvPicPr>
            <a:picLocks noChangeAspect="1"/>
          </p:cNvPicPr>
          <p:nvPr/>
        </p:nvPicPr>
        <p:blipFill>
          <a:blip r:embed="rId4"/>
          <a:stretch>
            <a:fillRect/>
          </a:stretch>
        </p:blipFill>
        <p:spPr>
          <a:xfrm>
            <a:off x="7942460" y="526800"/>
            <a:ext cx="3990146" cy="5383668"/>
          </a:xfrm>
          <a:prstGeom prst="rect">
            <a:avLst/>
          </a:prstGeom>
        </p:spPr>
      </p:pic>
    </p:spTree>
    <p:extLst>
      <p:ext uri="{BB962C8B-B14F-4D97-AF65-F5344CB8AC3E}">
        <p14:creationId xmlns:p14="http://schemas.microsoft.com/office/powerpoint/2010/main" val="50439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E8F4-A35C-56E9-B4C7-9871A0031432}"/>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7702E583-B6FF-6C19-0BBB-2FE236E7589F}"/>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959F9EA0-EF30-5094-4903-84EB0B5C877A}"/>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A72E3893-A439-28BD-C48B-8681EBD15A6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9</a:t>
            </a:fld>
            <a:endParaRPr lang="es-MX" noProof="0" dirty="0"/>
          </a:p>
        </p:txBody>
      </p:sp>
      <p:sp>
        <p:nvSpPr>
          <p:cNvPr id="14" name="Marcador de pie de página 3">
            <a:extLst>
              <a:ext uri="{FF2B5EF4-FFF2-40B4-BE49-F238E27FC236}">
                <a16:creationId xmlns:a16="http://schemas.microsoft.com/office/drawing/2014/main" id="{5944251F-915C-A281-BD07-C85051D31027}"/>
              </a:ext>
            </a:extLst>
          </p:cNvPr>
          <p:cNvSpPr txBox="1">
            <a:spLocks/>
          </p:cNvSpPr>
          <p:nvPr/>
        </p:nvSpPr>
        <p:spPr>
          <a:xfrm>
            <a:off x="186613" y="559837"/>
            <a:ext cx="6442006" cy="5346441"/>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s-ES" sz="1600" dirty="0">
                <a:solidFill>
                  <a:schemeClr val="bg2">
                    <a:lumMod val="25000"/>
                  </a:schemeClr>
                </a:solidFill>
              </a:rPr>
              <a:t>Una </a:t>
            </a:r>
            <a:r>
              <a:rPr lang="es-ES" sz="1600" b="1" dirty="0">
                <a:solidFill>
                  <a:schemeClr val="bg2">
                    <a:lumMod val="25000"/>
                  </a:schemeClr>
                </a:solidFill>
              </a:rPr>
              <a:t>matriz de seguimiento reputacional</a:t>
            </a:r>
            <a:r>
              <a:rPr lang="es-ES" sz="1600" dirty="0">
                <a:solidFill>
                  <a:schemeClr val="bg2">
                    <a:lumMod val="25000"/>
                  </a:schemeClr>
                </a:solidFill>
              </a:rPr>
              <a:t> dentro del sitio privado que reúne los </a:t>
            </a:r>
            <a:r>
              <a:rPr lang="es-ES" sz="1600" b="1" dirty="0">
                <a:solidFill>
                  <a:schemeClr val="bg2">
                    <a:lumMod val="25000"/>
                  </a:schemeClr>
                </a:solidFill>
              </a:rPr>
              <a:t>temas sensibles detectados en la cobertura, les asigna un nivel de atención/prioridad, y permite consultar su evolución ya que se actualiza automáticamente. </a:t>
            </a:r>
            <a:r>
              <a:rPr lang="es-MX" sz="1600" dirty="0">
                <a:solidFill>
                  <a:schemeClr val="tx1"/>
                </a:solidFill>
              </a:rPr>
              <a:t>Los criterios para el nivel de atención/prioridad se definen con el cliente. Puede ser el aumento de publicaciones, la aparición de nuevos actores o la incorporación de hechos relevantes.</a:t>
            </a:r>
          </a:p>
          <a:p>
            <a:pPr algn="just"/>
            <a:endParaRPr lang="es-ES" sz="1600" b="1" dirty="0">
              <a:solidFill>
                <a:schemeClr val="bg2">
                  <a:lumMod val="25000"/>
                </a:schemeClr>
              </a:solidFill>
            </a:endParaRPr>
          </a:p>
          <a:p>
            <a:pPr algn="just"/>
            <a:endParaRPr lang="es-ES" sz="1600" dirty="0">
              <a:solidFill>
                <a:schemeClr val="bg2">
                  <a:lumMod val="25000"/>
                </a:schemeClr>
              </a:solidFill>
            </a:endParaRPr>
          </a:p>
          <a:p>
            <a:pPr algn="just"/>
            <a:r>
              <a:rPr lang="es-ES" sz="1600" dirty="0">
                <a:solidFill>
                  <a:schemeClr val="bg2">
                    <a:lumMod val="25000"/>
                  </a:schemeClr>
                </a:solidFill>
              </a:rPr>
              <a:t>Para cada tema muestra:</a:t>
            </a:r>
          </a:p>
          <a:p>
            <a:pPr algn="just"/>
            <a:endParaRPr lang="es-ES" sz="1600" dirty="0">
              <a:solidFill>
                <a:schemeClr val="bg2">
                  <a:lumMod val="25000"/>
                </a:schemeClr>
              </a:solidFill>
            </a:endParaRPr>
          </a:p>
          <a:p>
            <a:pPr marL="285750" indent="-285750" algn="just">
              <a:buFont typeface="Arial" panose="020B0604020202020204" pitchFamily="34" charset="0"/>
              <a:buChar char="•"/>
            </a:pPr>
            <a:r>
              <a:rPr lang="es-ES" sz="1600" dirty="0">
                <a:solidFill>
                  <a:schemeClr val="bg2">
                    <a:lumMod val="25000"/>
                  </a:schemeClr>
                </a:solidFill>
              </a:rPr>
              <a:t>Qué está ocurriendo y cuál es el señalamiento o controversia.</a:t>
            </a:r>
          </a:p>
          <a:p>
            <a:pPr marL="285750" indent="-285750" algn="just">
              <a:buFont typeface="Arial" panose="020B0604020202020204" pitchFamily="34" charset="0"/>
              <a:buChar char="•"/>
            </a:pPr>
            <a:r>
              <a:rPr lang="es-ES" sz="1600" dirty="0">
                <a:solidFill>
                  <a:schemeClr val="bg2">
                    <a:lumMod val="25000"/>
                  </a:schemeClr>
                </a:solidFill>
              </a:rPr>
              <a:t>Qué actores y medios aparecen en la cobertura.</a:t>
            </a:r>
          </a:p>
          <a:p>
            <a:pPr marL="285750" indent="-285750" algn="just">
              <a:buFont typeface="Arial" panose="020B0604020202020204" pitchFamily="34" charset="0"/>
              <a:buChar char="•"/>
            </a:pPr>
            <a:r>
              <a:rPr lang="es-ES" sz="1600" dirty="0">
                <a:solidFill>
                  <a:schemeClr val="bg2">
                    <a:lumMod val="25000"/>
                  </a:schemeClr>
                </a:solidFill>
              </a:rPr>
              <a:t>Cuándo se detectó y cuáles son sus novedades.</a:t>
            </a:r>
          </a:p>
          <a:p>
            <a:pPr marL="285750" indent="-285750" algn="just">
              <a:buFont typeface="Arial" panose="020B0604020202020204" pitchFamily="34" charset="0"/>
              <a:buChar char="•"/>
            </a:pPr>
            <a:r>
              <a:rPr lang="es-ES" sz="1600" dirty="0">
                <a:solidFill>
                  <a:schemeClr val="bg2">
                    <a:lumMod val="25000"/>
                  </a:schemeClr>
                </a:solidFill>
              </a:rPr>
              <a:t>Qué nivel de atención presenta: baja, media o alta.</a:t>
            </a:r>
          </a:p>
          <a:p>
            <a:pPr marL="285750" indent="-285750" algn="just">
              <a:buFont typeface="Arial" panose="020B0604020202020204" pitchFamily="34" charset="0"/>
              <a:buChar char="•"/>
            </a:pPr>
            <a:r>
              <a:rPr lang="es-ES" sz="1600" dirty="0">
                <a:solidFill>
                  <a:schemeClr val="bg2">
                    <a:lumMod val="25000"/>
                  </a:schemeClr>
                </a:solidFill>
              </a:rPr>
              <a:t>Qué publicaciones respaldan la información, con enlaces a las fuentes. </a:t>
            </a:r>
          </a:p>
          <a:p>
            <a:pPr algn="just"/>
            <a:endParaRPr lang="es-ES" sz="1600" dirty="0">
              <a:solidFill>
                <a:schemeClr val="bg2">
                  <a:lumMod val="25000"/>
                </a:schemeClr>
              </a:solidFill>
            </a:endParaRPr>
          </a:p>
          <a:p>
            <a:pPr algn="just"/>
            <a:endParaRPr lang="es-ES" sz="1600" dirty="0">
              <a:solidFill>
                <a:schemeClr val="bg2">
                  <a:lumMod val="25000"/>
                </a:schemeClr>
              </a:solidFill>
            </a:endParaRPr>
          </a:p>
          <a:p>
            <a:pPr algn="just"/>
            <a:r>
              <a:rPr lang="es-MX" sz="1600" dirty="0">
                <a:solidFill>
                  <a:schemeClr val="tx1"/>
                </a:solidFill>
              </a:rPr>
              <a:t>Cuando un cambio cumple los criterios de alerta, </a:t>
            </a:r>
            <a:r>
              <a:rPr lang="es-MX" sz="1600" b="1" dirty="0">
                <a:solidFill>
                  <a:schemeClr val="tx1"/>
                </a:solidFill>
              </a:rPr>
              <a:t>Telegram envía un aviso que explica qué cambió y por qué requiere atención</a:t>
            </a:r>
            <a:r>
              <a:rPr lang="es-MX" sz="1800" dirty="0">
                <a:solidFill>
                  <a:schemeClr val="tx1"/>
                </a:solidFill>
              </a:rPr>
              <a:t>.</a:t>
            </a:r>
          </a:p>
        </p:txBody>
      </p:sp>
      <p:pic>
        <p:nvPicPr>
          <p:cNvPr id="6" name="Imagen 5">
            <a:extLst>
              <a:ext uri="{FF2B5EF4-FFF2-40B4-BE49-F238E27FC236}">
                <a16:creationId xmlns:a16="http://schemas.microsoft.com/office/drawing/2014/main" id="{4CB72DF5-26E2-7D53-3A05-484AFF48D342}"/>
              </a:ext>
            </a:extLst>
          </p:cNvPr>
          <p:cNvPicPr>
            <a:picLocks noChangeAspect="1"/>
          </p:cNvPicPr>
          <p:nvPr/>
        </p:nvPicPr>
        <p:blipFill>
          <a:blip r:embed="rId3"/>
          <a:srcRect t="1" b="1221"/>
          <a:stretch>
            <a:fillRect/>
          </a:stretch>
        </p:blipFill>
        <p:spPr>
          <a:xfrm>
            <a:off x="6859098" y="559838"/>
            <a:ext cx="4972273" cy="5281126"/>
          </a:xfrm>
          <a:prstGeom prst="rect">
            <a:avLst/>
          </a:prstGeom>
        </p:spPr>
      </p:pic>
    </p:spTree>
    <p:extLst>
      <p:ext uri="{BB962C8B-B14F-4D97-AF65-F5344CB8AC3E}">
        <p14:creationId xmlns:p14="http://schemas.microsoft.com/office/powerpoint/2010/main" val="894217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1943-FB7C-AAFB-6291-96E44B9598DB}"/>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0A1FF5AE-67A0-7A0F-FFFB-825AA682B811}"/>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20EB2C10-3FC8-5791-A7EC-62F38D5DE13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5281C36-85B1-3213-F8FE-BD166B0E78A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10</a:t>
            </a:fld>
            <a:endParaRPr lang="es-MX" noProof="0" dirty="0"/>
          </a:p>
        </p:txBody>
      </p:sp>
      <p:pic>
        <p:nvPicPr>
          <p:cNvPr id="9" name="Imagen 8">
            <a:extLst>
              <a:ext uri="{FF2B5EF4-FFF2-40B4-BE49-F238E27FC236}">
                <a16:creationId xmlns:a16="http://schemas.microsoft.com/office/drawing/2014/main" id="{9D20EED1-C251-DCC5-943D-6FC0CC39191F}"/>
              </a:ext>
            </a:extLst>
          </p:cNvPr>
          <p:cNvPicPr>
            <a:picLocks noChangeAspect="1"/>
          </p:cNvPicPr>
          <p:nvPr/>
        </p:nvPicPr>
        <p:blipFill>
          <a:blip r:embed="rId3"/>
          <a:stretch>
            <a:fillRect/>
          </a:stretch>
        </p:blipFill>
        <p:spPr>
          <a:xfrm>
            <a:off x="414251" y="136525"/>
            <a:ext cx="5845774" cy="5975342"/>
          </a:xfrm>
          <a:prstGeom prst="rect">
            <a:avLst/>
          </a:prstGeom>
        </p:spPr>
      </p:pic>
      <p:sp>
        <p:nvSpPr>
          <p:cNvPr id="11" name="Marcador de pie de página 3">
            <a:extLst>
              <a:ext uri="{FF2B5EF4-FFF2-40B4-BE49-F238E27FC236}">
                <a16:creationId xmlns:a16="http://schemas.microsoft.com/office/drawing/2014/main" id="{4B69FF7B-B840-34DC-BA04-D38C0146A76D}"/>
              </a:ext>
            </a:extLst>
          </p:cNvPr>
          <p:cNvSpPr txBox="1">
            <a:spLocks/>
          </p:cNvSpPr>
          <p:nvPr/>
        </p:nvSpPr>
        <p:spPr>
          <a:xfrm>
            <a:off x="6549273" y="2638716"/>
            <a:ext cx="4543269" cy="1580567"/>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2400" dirty="0">
                <a:solidFill>
                  <a:schemeClr val="bg2">
                    <a:lumMod val="25000"/>
                  </a:schemeClr>
                </a:solidFill>
              </a:rPr>
              <a:t>Documento de </a:t>
            </a:r>
            <a:r>
              <a:rPr lang="es-MX" sz="2400" b="1" dirty="0">
                <a:solidFill>
                  <a:schemeClr val="bg2">
                    <a:lumMod val="25000"/>
                  </a:schemeClr>
                </a:solidFill>
              </a:rPr>
              <a:t>análisis semanal </a:t>
            </a:r>
            <a:r>
              <a:rPr lang="es-MX" sz="2400" dirty="0">
                <a:solidFill>
                  <a:schemeClr val="bg2">
                    <a:lumMod val="25000"/>
                  </a:schemeClr>
                </a:solidFill>
              </a:rPr>
              <a:t>sobre la </a:t>
            </a:r>
            <a:r>
              <a:rPr lang="es-MX" sz="2400" b="1" dirty="0">
                <a:solidFill>
                  <a:schemeClr val="bg2">
                    <a:lumMod val="25000"/>
                  </a:schemeClr>
                </a:solidFill>
              </a:rPr>
              <a:t>cobertura mediática</a:t>
            </a:r>
            <a:r>
              <a:rPr lang="es-MX" sz="2400" dirty="0">
                <a:solidFill>
                  <a:schemeClr val="bg2">
                    <a:lumMod val="25000"/>
                  </a:schemeClr>
                </a:solidFill>
              </a:rPr>
              <a:t>, incluyendo </a:t>
            </a:r>
            <a:r>
              <a:rPr lang="es-MX" sz="2400" b="1" dirty="0">
                <a:solidFill>
                  <a:schemeClr val="bg2">
                    <a:lumMod val="25000"/>
                  </a:schemeClr>
                </a:solidFill>
              </a:rPr>
              <a:t>recomendaciones estratégicas</a:t>
            </a:r>
            <a:endParaRPr lang="es-MX" sz="2400" dirty="0">
              <a:solidFill>
                <a:schemeClr val="bg2">
                  <a:lumMod val="25000"/>
                </a:schemeClr>
              </a:solidFill>
            </a:endParaRPr>
          </a:p>
        </p:txBody>
      </p:sp>
    </p:spTree>
    <p:extLst>
      <p:ext uri="{BB962C8B-B14F-4D97-AF65-F5344CB8AC3E}">
        <p14:creationId xmlns:p14="http://schemas.microsoft.com/office/powerpoint/2010/main" val="147547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F1938-4694-1C83-29A6-80F08409A9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FD8273-F862-6B98-E8E6-12D7AE5DB20A}"/>
              </a:ext>
            </a:extLst>
          </p:cNvPr>
          <p:cNvSpPr>
            <a:spLocks noGrp="1"/>
          </p:cNvSpPr>
          <p:nvPr>
            <p:ph type="title"/>
          </p:nvPr>
        </p:nvSpPr>
        <p:spPr>
          <a:xfrm>
            <a:off x="1885156" y="892177"/>
            <a:ext cx="8421688" cy="1325563"/>
          </a:xfrm>
        </p:spPr>
        <p:txBody>
          <a:bodyPr rtlCol="0"/>
          <a:lstStyle/>
          <a:p>
            <a:pPr rtl="0"/>
            <a:r>
              <a:rPr lang="es-MX" dirty="0"/>
              <a:t>Diversas fuentes de información</a:t>
            </a:r>
          </a:p>
        </p:txBody>
      </p:sp>
      <p:sp>
        <p:nvSpPr>
          <p:cNvPr id="3" name="Marcador de texto 2">
            <a:extLst>
              <a:ext uri="{FF2B5EF4-FFF2-40B4-BE49-F238E27FC236}">
                <a16:creationId xmlns:a16="http://schemas.microsoft.com/office/drawing/2014/main" id="{D1B38F77-71D1-2D76-D4A0-96125143EE21}"/>
              </a:ext>
            </a:extLst>
          </p:cNvPr>
          <p:cNvSpPr>
            <a:spLocks noGrp="1"/>
          </p:cNvSpPr>
          <p:nvPr>
            <p:ph type="body" idx="1"/>
          </p:nvPr>
        </p:nvSpPr>
        <p:spPr>
          <a:xfrm>
            <a:off x="2288108" y="3026570"/>
            <a:ext cx="2330726" cy="804859"/>
          </a:xfrm>
        </p:spPr>
        <p:txBody>
          <a:bodyPr rtlCol="0"/>
          <a:lstStyle/>
          <a:p>
            <a:pPr rtl="0"/>
            <a:r>
              <a:rPr lang="es-MX" dirty="0"/>
              <a:t>MEDIOS DIGITALES</a:t>
            </a:r>
          </a:p>
        </p:txBody>
      </p:sp>
      <p:sp>
        <p:nvSpPr>
          <p:cNvPr id="4" name="Marcador de contenido 3">
            <a:extLst>
              <a:ext uri="{FF2B5EF4-FFF2-40B4-BE49-F238E27FC236}">
                <a16:creationId xmlns:a16="http://schemas.microsoft.com/office/drawing/2014/main" id="{8EEA1120-22D7-D436-9A36-D883B5374D4E}"/>
              </a:ext>
            </a:extLst>
          </p:cNvPr>
          <p:cNvSpPr>
            <a:spLocks noGrp="1"/>
          </p:cNvSpPr>
          <p:nvPr>
            <p:ph sz="half" idx="2"/>
          </p:nvPr>
        </p:nvSpPr>
        <p:spPr>
          <a:xfrm>
            <a:off x="2288108" y="4163599"/>
            <a:ext cx="2330726" cy="1579303"/>
          </a:xfrm>
        </p:spPr>
        <p:txBody>
          <a:bodyPr rtlCol="0">
            <a:normAutofit/>
          </a:bodyPr>
          <a:lstStyle/>
          <a:p>
            <a:r>
              <a:rPr lang="es-MX" dirty="0"/>
              <a:t>Notas informativas, artículos o columnas de opinión en medios de comunicación (pueden ser de Colombia o del exterior).</a:t>
            </a:r>
          </a:p>
        </p:txBody>
      </p:sp>
      <p:graphicFrame>
        <p:nvGraphicFramePr>
          <p:cNvPr id="127" name="Marcador de contenido 126" title="Gráfico de financiación">
            <a:extLst>
              <a:ext uri="{FF2B5EF4-FFF2-40B4-BE49-F238E27FC236}">
                <a16:creationId xmlns:a16="http://schemas.microsoft.com/office/drawing/2014/main" id="{987F8110-733F-537A-8C2C-A861F8164935}"/>
              </a:ext>
            </a:extLst>
          </p:cNvPr>
          <p:cNvGraphicFramePr>
            <a:graphicFrameLocks noGrp="1"/>
          </p:cNvGraphicFramePr>
          <p:nvPr>
            <p:ph sz="quarter" idx="22"/>
          </p:nvPr>
        </p:nvGraphicFramePr>
        <p:xfrm>
          <a:off x="5261496" y="2217740"/>
          <a:ext cx="1855787" cy="1663700"/>
        </p:xfrm>
        <a:graphic>
          <a:graphicData uri="http://schemas.openxmlformats.org/drawingml/2006/chart">
            <c:chart xmlns:c="http://schemas.openxmlformats.org/drawingml/2006/chart" xmlns:r="http://schemas.openxmlformats.org/officeDocument/2006/relationships" r:id="rId3"/>
          </a:graphicData>
        </a:graphic>
      </p:graphicFrame>
      <p:sp>
        <p:nvSpPr>
          <p:cNvPr id="6" name="Marcador de contenido 5">
            <a:extLst>
              <a:ext uri="{FF2B5EF4-FFF2-40B4-BE49-F238E27FC236}">
                <a16:creationId xmlns:a16="http://schemas.microsoft.com/office/drawing/2014/main" id="{4E738030-8C17-E729-C7E6-BFC66ABB9445}"/>
              </a:ext>
            </a:extLst>
          </p:cNvPr>
          <p:cNvSpPr>
            <a:spLocks noGrp="1"/>
          </p:cNvSpPr>
          <p:nvPr>
            <p:ph sz="quarter" idx="4"/>
          </p:nvPr>
        </p:nvSpPr>
        <p:spPr>
          <a:xfrm>
            <a:off x="5018286" y="4163599"/>
            <a:ext cx="2342205" cy="1780510"/>
          </a:xfrm>
        </p:spPr>
        <p:txBody>
          <a:bodyPr rtlCol="0" anchor="ctr">
            <a:normAutofit lnSpcReduction="10000"/>
          </a:bodyPr>
          <a:lstStyle/>
          <a:p>
            <a:r>
              <a:rPr lang="es-MX" dirty="0"/>
              <a:t>Seguimiento de cuentas y búsquedas por nombres, menciones y palabras clave para identificar publicaciones relevantes y cambios en la conversación dentro de la cobertura contratada.</a:t>
            </a:r>
          </a:p>
        </p:txBody>
      </p:sp>
      <p:sp>
        <p:nvSpPr>
          <p:cNvPr id="11" name="Marcador de contenido 10">
            <a:extLst>
              <a:ext uri="{FF2B5EF4-FFF2-40B4-BE49-F238E27FC236}">
                <a16:creationId xmlns:a16="http://schemas.microsoft.com/office/drawing/2014/main" id="{8EE25BDB-7B11-EE46-5E08-3A4409CFB80C}"/>
              </a:ext>
            </a:extLst>
          </p:cNvPr>
          <p:cNvSpPr>
            <a:spLocks noGrp="1"/>
          </p:cNvSpPr>
          <p:nvPr>
            <p:ph sz="half" idx="14"/>
          </p:nvPr>
        </p:nvSpPr>
        <p:spPr>
          <a:xfrm>
            <a:off x="7937850" y="4265727"/>
            <a:ext cx="2447121" cy="985442"/>
          </a:xfrm>
        </p:spPr>
        <p:txBody>
          <a:bodyPr rtlCol="0">
            <a:normAutofit/>
          </a:bodyPr>
          <a:lstStyle/>
          <a:p>
            <a:r>
              <a:rPr lang="es-MX" dirty="0"/>
              <a:t>Seguimiento de canales con opción de configurar alertas cuando estos mencionen determinados temas.</a:t>
            </a:r>
          </a:p>
        </p:txBody>
      </p:sp>
      <p:sp>
        <p:nvSpPr>
          <p:cNvPr id="7" name="Marcador de fecha 6">
            <a:extLst>
              <a:ext uri="{FF2B5EF4-FFF2-40B4-BE49-F238E27FC236}">
                <a16:creationId xmlns:a16="http://schemas.microsoft.com/office/drawing/2014/main" id="{0BDA27CA-BD11-2DE4-D2C7-080C8D9A5303}"/>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8" name="Marcador de pie de página 7">
            <a:extLst>
              <a:ext uri="{FF2B5EF4-FFF2-40B4-BE49-F238E27FC236}">
                <a16:creationId xmlns:a16="http://schemas.microsoft.com/office/drawing/2014/main" id="{46CB2D83-7B42-D995-BAF7-21FB2EC4438A}"/>
              </a:ext>
            </a:extLst>
          </p:cNvPr>
          <p:cNvSpPr>
            <a:spLocks noGrp="1"/>
          </p:cNvSpPr>
          <p:nvPr>
            <p:ph type="ftr" sz="quarter" idx="11"/>
          </p:nvPr>
        </p:nvSpPr>
        <p:spPr>
          <a:xfrm>
            <a:off x="4038600" y="6356350"/>
            <a:ext cx="4114800" cy="365125"/>
          </a:xfrm>
        </p:spPr>
        <p:txBody>
          <a:bodyPr rtlCol="0"/>
          <a:lstStyle/>
          <a:p>
            <a:r>
              <a:rPr lang="es-MX" dirty="0"/>
              <a:t>Luis Daniel Santiago Vidargas – Monitoreo +</a:t>
            </a:r>
          </a:p>
        </p:txBody>
      </p:sp>
      <p:sp>
        <p:nvSpPr>
          <p:cNvPr id="9" name="Marcador de número de diapositiva 8">
            <a:extLst>
              <a:ext uri="{FF2B5EF4-FFF2-40B4-BE49-F238E27FC236}">
                <a16:creationId xmlns:a16="http://schemas.microsoft.com/office/drawing/2014/main" id="{68406CC5-2878-DC0B-4353-DDB50EE4F21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11</a:t>
            </a:fld>
            <a:endParaRPr lang="es-MX" dirty="0"/>
          </a:p>
        </p:txBody>
      </p:sp>
      <p:pic>
        <p:nvPicPr>
          <p:cNvPr id="23" name="Imagen 22" descr="Archivo:Twitter X.png - Wikipedia, la enciclopedia libre">
            <a:extLst>
              <a:ext uri="{FF2B5EF4-FFF2-40B4-BE49-F238E27FC236}">
                <a16:creationId xmlns:a16="http://schemas.microsoft.com/office/drawing/2014/main" id="{74F5EF74-3962-62FF-D5C0-26DEEC09CA43}"/>
              </a:ext>
            </a:extLst>
          </p:cNvPr>
          <p:cNvPicPr>
            <a:picLocks noChangeAspect="1"/>
          </p:cNvPicPr>
          <p:nvPr/>
        </p:nvPicPr>
        <p:blipFill>
          <a:blip r:embed="rId4"/>
          <a:stretch>
            <a:fillRect/>
          </a:stretch>
        </p:blipFill>
        <p:spPr>
          <a:xfrm>
            <a:off x="5567618" y="3108114"/>
            <a:ext cx="1056764" cy="773326"/>
          </a:xfrm>
          <a:prstGeom prst="rect">
            <a:avLst/>
          </a:prstGeom>
        </p:spPr>
      </p:pic>
      <p:pic>
        <p:nvPicPr>
          <p:cNvPr id="28" name="Imagen 27" descr="Logo Youtube icon - Free Download PNG &amp; SVG | Streamline">
            <a:extLst>
              <a:ext uri="{FF2B5EF4-FFF2-40B4-BE49-F238E27FC236}">
                <a16:creationId xmlns:a16="http://schemas.microsoft.com/office/drawing/2014/main" id="{DB2259C8-CCA5-BD40-37E9-9D3E87943D0B}"/>
              </a:ext>
            </a:extLst>
          </p:cNvPr>
          <p:cNvPicPr>
            <a:picLocks noChangeAspect="1"/>
          </p:cNvPicPr>
          <p:nvPr/>
        </p:nvPicPr>
        <p:blipFill>
          <a:blip r:embed="rId5"/>
          <a:stretch>
            <a:fillRect/>
          </a:stretch>
        </p:blipFill>
        <p:spPr>
          <a:xfrm>
            <a:off x="8406882" y="2816683"/>
            <a:ext cx="1346916" cy="1346916"/>
          </a:xfrm>
          <a:prstGeom prst="rect">
            <a:avLst/>
          </a:prstGeom>
        </p:spPr>
      </p:pic>
    </p:spTree>
    <p:extLst>
      <p:ext uri="{BB962C8B-B14F-4D97-AF65-F5344CB8AC3E}">
        <p14:creationId xmlns:p14="http://schemas.microsoft.com/office/powerpoint/2010/main" val="3424601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EA83-8039-848F-D9F1-AA5F298CB42C}"/>
            </a:ext>
          </a:extLst>
        </p:cNvPr>
        <p:cNvGrpSpPr/>
        <p:nvPr/>
      </p:nvGrpSpPr>
      <p:grpSpPr>
        <a:xfrm>
          <a:off x="0" y="0"/>
          <a:ext cx="0" cy="0"/>
          <a:chOff x="0" y="0"/>
          <a:chExt cx="0" cy="0"/>
        </a:xfrm>
      </p:grpSpPr>
      <p:sp>
        <p:nvSpPr>
          <p:cNvPr id="11" name="Título 10">
            <a:extLst>
              <a:ext uri="{FF2B5EF4-FFF2-40B4-BE49-F238E27FC236}">
                <a16:creationId xmlns:a16="http://schemas.microsoft.com/office/drawing/2014/main" id="{CCDFC2ED-F4EF-91B0-0A86-E1E5216ADD9E}"/>
              </a:ext>
            </a:extLst>
          </p:cNvPr>
          <p:cNvSpPr>
            <a:spLocks noGrp="1"/>
          </p:cNvSpPr>
          <p:nvPr>
            <p:ph type="title"/>
          </p:nvPr>
        </p:nvSpPr>
        <p:spPr>
          <a:xfrm>
            <a:off x="-132962" y="3214549"/>
            <a:ext cx="1942322" cy="390655"/>
          </a:xfrm>
        </p:spPr>
        <p:txBody>
          <a:bodyPr rtlCol="0" anchor="ctr">
            <a:noAutofit/>
          </a:bodyPr>
          <a:lstStyle/>
          <a:p>
            <a:pPr rtl="0"/>
            <a:r>
              <a:rPr lang="es-MX" sz="1800" b="1" dirty="0"/>
              <a:t>PAQUETES Y COSTOS</a:t>
            </a:r>
          </a:p>
        </p:txBody>
      </p:sp>
      <p:sp>
        <p:nvSpPr>
          <p:cNvPr id="2" name="Marcador de fecha 1">
            <a:extLst>
              <a:ext uri="{FF2B5EF4-FFF2-40B4-BE49-F238E27FC236}">
                <a16:creationId xmlns:a16="http://schemas.microsoft.com/office/drawing/2014/main" id="{814961CE-BC01-D37D-F226-115DB0BC64EA}"/>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3" name="Marcador de pie de página 2">
            <a:extLst>
              <a:ext uri="{FF2B5EF4-FFF2-40B4-BE49-F238E27FC236}">
                <a16:creationId xmlns:a16="http://schemas.microsoft.com/office/drawing/2014/main" id="{4EA339F0-81FB-DCE5-680F-7E540D3926BD}"/>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0A53E2A2-F906-72C5-9794-DFE7100D0DC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12</a:t>
            </a:fld>
            <a:endParaRPr lang="es-MX" dirty="0"/>
          </a:p>
        </p:txBody>
      </p:sp>
      <p:graphicFrame>
        <p:nvGraphicFramePr>
          <p:cNvPr id="17" name="Tabla 9">
            <a:extLst>
              <a:ext uri="{FF2B5EF4-FFF2-40B4-BE49-F238E27FC236}">
                <a16:creationId xmlns:a16="http://schemas.microsoft.com/office/drawing/2014/main" id="{C98CE520-E7F6-85CF-C9B6-35E5BF8981C4}"/>
              </a:ext>
            </a:extLst>
          </p:cNvPr>
          <p:cNvGraphicFramePr>
            <a:graphicFrameLocks noGrp="1"/>
          </p:cNvGraphicFramePr>
          <p:nvPr>
            <p:ph type="dgm" sz="quarter" idx="15"/>
            <p:extLst>
              <p:ext uri="{D42A27DB-BD31-4B8C-83A1-F6EECF244321}">
                <p14:modId xmlns:p14="http://schemas.microsoft.com/office/powerpoint/2010/main" val="1460365121"/>
              </p:ext>
            </p:extLst>
          </p:nvPr>
        </p:nvGraphicFramePr>
        <p:xfrm>
          <a:off x="1809360" y="136525"/>
          <a:ext cx="9240105" cy="6546704"/>
        </p:xfrm>
        <a:graphic>
          <a:graphicData uri="http://schemas.openxmlformats.org/drawingml/2006/table">
            <a:tbl>
              <a:tblPr firstRow="1" lastRow="1" bandRow="1">
                <a:tableStyleId>{5C22544A-7EE6-4342-B048-85BDC9FD1C3A}</a:tableStyleId>
              </a:tblPr>
              <a:tblGrid>
                <a:gridCol w="7914225">
                  <a:extLst>
                    <a:ext uri="{9D8B030D-6E8A-4147-A177-3AD203B41FA5}">
                      <a16:colId xmlns:a16="http://schemas.microsoft.com/office/drawing/2014/main" val="3446012419"/>
                    </a:ext>
                  </a:extLst>
                </a:gridCol>
                <a:gridCol w="1325880">
                  <a:extLst>
                    <a:ext uri="{9D8B030D-6E8A-4147-A177-3AD203B41FA5}">
                      <a16:colId xmlns:a16="http://schemas.microsoft.com/office/drawing/2014/main" val="4052646397"/>
                    </a:ext>
                  </a:extLst>
                </a:gridCol>
              </a:tblGrid>
              <a:tr h="37294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MX" sz="1100" b="1" i="0" u="none" strike="noStrike" noProof="0" dirty="0">
                          <a:solidFill>
                            <a:schemeClr val="tx1"/>
                          </a:solidFill>
                          <a:effectLst/>
                          <a:latin typeface="+mn-lt"/>
                        </a:rPr>
                        <a:t>Cobertura mensual con seguimiento reputacional</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050" b="1" i="0" u="none" strike="noStrike" noProof="0" dirty="0">
                          <a:solidFill>
                            <a:schemeClr val="tx1"/>
                          </a:solidFill>
                          <a:effectLst/>
                          <a:latin typeface="+mn-lt"/>
                        </a:rPr>
                        <a:t>$1,000 USD x mes</a:t>
                      </a: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28412361"/>
                  </a:ext>
                </a:extLst>
              </a:tr>
              <a:tr h="372945">
                <a:tc>
                  <a:txBody>
                    <a:bodyPr/>
                    <a:lstStyle/>
                    <a:p>
                      <a:pPr lvl="0" algn="l" rtl="0" fontAlgn="b"/>
                      <a:r>
                        <a:rPr lang="es-MX" sz="1050" b="0" u="none" strike="noStrike" noProof="0" dirty="0">
                          <a:solidFill>
                            <a:schemeClr val="tx1"/>
                          </a:solidFill>
                          <a:effectLst/>
                        </a:rPr>
                        <a:t>Sitio web personalizable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Monitoreo de cobertura mediática 24/7 de temas de interés para el cliente</a:t>
                      </a:r>
                    </a:p>
                    <a:p>
                      <a:pPr lvl="0" algn="l" rtl="0" fontAlgn="b"/>
                      <a:r>
                        <a:rPr lang="es-MX" sz="1050" b="0" u="none" strike="noStrike" noProof="0" dirty="0">
                          <a:solidFill>
                            <a:schemeClr val="tx1"/>
                          </a:solidFill>
                          <a:effectLst/>
                        </a:rPr>
                        <a:t>Registro histórico de cobertura mediática disponible para consulta</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Almacenamiento de contenido recabado en cobertura mediática para elaboración de </a:t>
                      </a:r>
                      <a:r>
                        <a:rPr lang="es-MX" sz="1050" b="0" u="none" strike="noStrike" noProof="0" dirty="0" err="1">
                          <a:solidFill>
                            <a:schemeClr val="tx1"/>
                          </a:solidFill>
                          <a:effectLst/>
                        </a:rPr>
                        <a:t>briefs</a:t>
                      </a:r>
                      <a:endParaRPr lang="es-MX" sz="1050" b="0" u="none" strike="noStrike" noProof="0" dirty="0">
                        <a:solidFill>
                          <a:schemeClr val="tx1"/>
                        </a:solidFill>
                        <a:effectLst/>
                      </a:endParaRPr>
                    </a:p>
                    <a:p>
                      <a:pPr lvl="0" algn="l" rtl="0" fontAlgn="b"/>
                      <a:r>
                        <a:rPr lang="es-MX" altLang="es-MX" sz="1050" b="0" u="none" strike="noStrike" kern="1200" dirty="0">
                          <a:solidFill>
                            <a:schemeClr val="tx1"/>
                          </a:solidFill>
                          <a:effectLst/>
                          <a:latin typeface="+mn-lt"/>
                          <a:ea typeface="+mn-ea"/>
                          <a:cs typeface="+mn-cs"/>
                        </a:rPr>
                        <a:t>Sistema de </a:t>
                      </a:r>
                      <a:r>
                        <a:rPr lang="es-MX" altLang="es-MX" sz="1050" b="0" u="none" strike="noStrike" kern="1200" dirty="0" err="1">
                          <a:solidFill>
                            <a:schemeClr val="tx1"/>
                          </a:solidFill>
                          <a:effectLst/>
                          <a:latin typeface="+mn-lt"/>
                          <a:ea typeface="+mn-ea"/>
                          <a:cs typeface="+mn-cs"/>
                        </a:rPr>
                        <a:t>briefs</a:t>
                      </a:r>
                      <a:r>
                        <a:rPr lang="es-MX" altLang="es-MX" sz="1050" b="0" u="none" strike="noStrike" kern="1200" dirty="0">
                          <a:solidFill>
                            <a:schemeClr val="tx1"/>
                          </a:solidFill>
                          <a:effectLst/>
                          <a:latin typeface="+mn-lt"/>
                          <a:ea typeface="+mn-ea"/>
                          <a:cs typeface="+mn-cs"/>
                        </a:rPr>
                        <a:t> automatizado</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Acceso a todas las notas recabadas para producir </a:t>
                      </a:r>
                      <a:r>
                        <a:rPr lang="es-MX" sz="1050" b="0" u="none" strike="noStrike" noProof="0" dirty="0" err="1">
                          <a:solidFill>
                            <a:schemeClr val="tx1"/>
                          </a:solidFill>
                          <a:effectLst/>
                        </a:rPr>
                        <a:t>briefs</a:t>
                      </a:r>
                      <a:endParaRPr lang="es-MX" sz="1050" b="0" u="none" strike="noStrike" noProof="0" dirty="0">
                        <a:solidFill>
                          <a:schemeClr val="tx1"/>
                        </a:solidFill>
                        <a:effectLst/>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Alertas vía Telegram</a:t>
                      </a:r>
                    </a:p>
                    <a:p>
                      <a:pPr lvl="0" algn="l" rtl="0" fontAlgn="b"/>
                      <a:r>
                        <a:rPr lang="es-MX" sz="1050" b="1" u="none" strike="noStrike" noProof="0" dirty="0">
                          <a:solidFill>
                            <a:schemeClr val="tx1"/>
                          </a:solidFill>
                          <a:effectLst/>
                        </a:rPr>
                        <a:t>Matriz de seguimiento reputacional</a:t>
                      </a:r>
                    </a:p>
                    <a:p>
                      <a:pPr lvl="0" algn="l" rtl="0" fontAlgn="b"/>
                      <a:r>
                        <a:rPr lang="es-MX" sz="1050" b="1" u="none" strike="noStrike" noProof="0" dirty="0">
                          <a:solidFill>
                            <a:schemeClr val="tx1"/>
                          </a:solidFill>
                          <a:effectLst/>
                        </a:rPr>
                        <a:t>Alertas </a:t>
                      </a:r>
                      <a:r>
                        <a:rPr lang="es-MX" sz="1050" b="1" dirty="0"/>
                        <a:t>por cambios relevantes en temas sensibles</a:t>
                      </a:r>
                      <a:endParaRPr lang="es-MX" sz="1050" b="1" u="none" strike="noStrike" noProof="0" dirty="0">
                        <a:solidFill>
                          <a:schemeClr val="tx1"/>
                        </a:solidFill>
                        <a:effectLst/>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050" b="0" i="0" u="none" strike="noStrike" kern="1200" dirty="0">
                          <a:solidFill>
                            <a:schemeClr val="tx1"/>
                          </a:solidFill>
                          <a:effectLst/>
                          <a:latin typeface="+mn-lt"/>
                          <a:ea typeface="+mn-ea"/>
                          <a:cs typeface="+mn-cs"/>
                        </a:rPr>
                        <a:t>Reporte semanal de análisis que profundiza en desarrollos mediáticos</a:t>
                      </a:r>
                      <a:endParaRPr lang="es-MX" sz="10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0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1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464190105"/>
                  </a:ext>
                </a:extLst>
              </a:tr>
              <a:tr h="372945">
                <a:tc>
                  <a:txBody>
                    <a:bodyPr/>
                    <a:lstStyle/>
                    <a:p>
                      <a:pPr algn="l" rtl="0" fontAlgn="b"/>
                      <a:r>
                        <a:rPr lang="es-MX" sz="1100" b="1" i="0" u="none" strike="noStrike" noProof="0" dirty="0">
                          <a:solidFill>
                            <a:schemeClr val="tx1"/>
                          </a:solidFill>
                          <a:effectLst/>
                          <a:latin typeface="+mn-lt"/>
                        </a:rPr>
                        <a:t>Cobertura mensual con sitio web</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050" b="1" i="0" u="none" strike="noStrike" noProof="0" dirty="0">
                          <a:solidFill>
                            <a:schemeClr val="tx1"/>
                          </a:solidFill>
                          <a:effectLst/>
                          <a:latin typeface="+mn-lt"/>
                        </a:rPr>
                        <a:t>$750 USD x mes </a:t>
                      </a:r>
                      <a:endParaRPr lang="es-MX" sz="105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1663174250"/>
                  </a:ext>
                </a:extLst>
              </a:tr>
              <a:tr h="1182998">
                <a:tc>
                  <a:txBody>
                    <a:bodyPr/>
                    <a:lstStyle/>
                    <a:p>
                      <a:pPr lvl="0" algn="l" rtl="0" fontAlgn="b"/>
                      <a:r>
                        <a:rPr lang="es-MX" sz="1050" b="1" u="none" strike="noStrike" noProof="0" dirty="0">
                          <a:solidFill>
                            <a:schemeClr val="tx1"/>
                          </a:solidFill>
                          <a:effectLst/>
                        </a:rPr>
                        <a:t>Sitio web personalizable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Monitoreo de cobertura mediática 24/7 de temas de interés para el cliente</a:t>
                      </a:r>
                    </a:p>
                    <a:p>
                      <a:pPr lvl="0" algn="l" rtl="0" fontAlgn="b"/>
                      <a:r>
                        <a:rPr lang="es-MX" sz="1050" b="1" u="none" strike="noStrike" noProof="0" dirty="0">
                          <a:solidFill>
                            <a:schemeClr val="tx1"/>
                          </a:solidFill>
                          <a:effectLst/>
                        </a:rPr>
                        <a:t>Registro histórico de cobertura mediática disponible para consulta</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Almacenamiento de contenido recabado en cobertura mediática para elaboración de briefs</a:t>
                      </a:r>
                    </a:p>
                    <a:p>
                      <a:pPr lvl="0" algn="l" rtl="0" fontAlgn="b"/>
                      <a:r>
                        <a:rPr lang="es-MX" altLang="es-MX" sz="1050" b="0" u="none" strike="noStrike" kern="1200" dirty="0">
                          <a:solidFill>
                            <a:schemeClr val="tx1"/>
                          </a:solidFill>
                          <a:effectLst/>
                          <a:latin typeface="+mn-lt"/>
                          <a:ea typeface="+mn-ea"/>
                          <a:cs typeface="+mn-cs"/>
                        </a:rPr>
                        <a:t>Sistema de briefs automatizado</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1" u="none" strike="noStrike" noProof="0" dirty="0">
                          <a:solidFill>
                            <a:schemeClr val="tx1"/>
                          </a:solidFill>
                          <a:effectLst/>
                        </a:rPr>
                        <a:t>Acceso a todas las notas recabadas para producir briefs</a:t>
                      </a:r>
                      <a:endParaRPr lang="es-MX" sz="10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050" b="0" i="0" u="none" strike="noStrike" kern="1200" dirty="0">
                          <a:solidFill>
                            <a:schemeClr val="tx1"/>
                          </a:solidFill>
                          <a:effectLst/>
                          <a:latin typeface="+mn-lt"/>
                          <a:ea typeface="+mn-ea"/>
                          <a:cs typeface="+mn-cs"/>
                        </a:rPr>
                        <a:t>Reporte semanal de análisis que profundiza en desarrollos mediáticos</a:t>
                      </a:r>
                      <a:endParaRPr lang="es-MX" sz="10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0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05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0773105"/>
                  </a:ext>
                </a:extLst>
              </a:tr>
              <a:tr h="372945">
                <a:tc>
                  <a:txBody>
                    <a:bodyPr/>
                    <a:lstStyle/>
                    <a:p>
                      <a:pPr algn="l" rtl="0" fontAlgn="b"/>
                      <a:r>
                        <a:rPr lang="es-MX" sz="1100" b="1" i="0" u="none" strike="noStrike" noProof="0" dirty="0">
                          <a:solidFill>
                            <a:schemeClr val="tx1"/>
                          </a:solidFill>
                          <a:effectLst/>
                          <a:latin typeface="+mn-lt"/>
                        </a:rPr>
                        <a:t>Cobertura mensual sin sitio web</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050" b="1" i="0" u="none" strike="noStrike" noProof="0" dirty="0">
                          <a:solidFill>
                            <a:schemeClr val="tx1"/>
                          </a:solidFill>
                          <a:effectLst/>
                          <a:latin typeface="+mn-lt"/>
                        </a:rPr>
                        <a:t>$600 USD x mes </a:t>
                      </a:r>
                      <a:endParaRPr lang="es-MX" sz="105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18261053"/>
                  </a:ext>
                </a:extLst>
              </a:tr>
              <a:tr h="1084624">
                <a:tc>
                  <a:txBody>
                    <a:bodyPr/>
                    <a:lstStyle/>
                    <a:p>
                      <a:pPr lvl="0" algn="l" rtl="0" fontAlgn="b"/>
                      <a:r>
                        <a:rPr lang="es-MX" sz="1050" b="0" u="none" strike="noStrike" noProof="0" dirty="0">
                          <a:solidFill>
                            <a:schemeClr val="tx1"/>
                          </a:solidFill>
                          <a:effectLst/>
                        </a:rPr>
                        <a:t>Monitoreo de cobertura mediática 24/7 de temas de interés para el cliente</a:t>
                      </a:r>
                    </a:p>
                    <a:p>
                      <a:pPr lvl="0" algn="l" rtl="0" fontAlgn="b"/>
                      <a:r>
                        <a:rPr lang="es-MX" sz="1050" b="1" u="none" strike="noStrike" noProof="0" dirty="0">
                          <a:solidFill>
                            <a:schemeClr val="tx1"/>
                          </a:solidFill>
                          <a:effectLst/>
                        </a:rPr>
                        <a:t>Almacenamiento de contenido recabado en cobertura mediática para elaboración de briefs</a:t>
                      </a:r>
                    </a:p>
                    <a:p>
                      <a:pPr lvl="0" algn="l" rtl="0" fontAlgn="b"/>
                      <a:r>
                        <a:rPr lang="es-MX" altLang="es-MX" sz="1050" b="1" u="none" strike="noStrike" kern="1200" dirty="0">
                          <a:solidFill>
                            <a:schemeClr val="tx1"/>
                          </a:solidFill>
                          <a:effectLst/>
                          <a:latin typeface="+mn-lt"/>
                          <a:ea typeface="+mn-ea"/>
                          <a:cs typeface="+mn-cs"/>
                        </a:rPr>
                        <a:t>Sistema de briefs automatizados</a:t>
                      </a:r>
                      <a:endParaRPr lang="es-MX" sz="1050" b="1"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050" b="1" i="0" u="none" strike="noStrike" kern="1200" dirty="0">
                          <a:solidFill>
                            <a:schemeClr val="tx1"/>
                          </a:solidFill>
                          <a:effectLst/>
                          <a:latin typeface="+mn-lt"/>
                          <a:ea typeface="+mn-ea"/>
                          <a:cs typeface="+mn-cs"/>
                        </a:rPr>
                        <a:t>Reporte semanal de análisis que profundiza en desarrollos mediáticos</a:t>
                      </a:r>
                      <a:endParaRPr lang="es-MX" sz="1050" b="1"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0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05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3943050"/>
                  </a:ext>
                </a:extLst>
              </a:tr>
              <a:tr h="372945">
                <a:tc>
                  <a:txBody>
                    <a:bodyPr/>
                    <a:lstStyle/>
                    <a:p>
                      <a:pPr algn="l" rtl="0" fontAlgn="b"/>
                      <a:r>
                        <a:rPr lang="es-MX" sz="1100" b="1" i="0" u="none" strike="noStrike" noProof="0" dirty="0">
                          <a:solidFill>
                            <a:schemeClr val="tx1"/>
                          </a:solidFill>
                          <a:effectLst/>
                          <a:latin typeface="+mn-lt"/>
                        </a:rPr>
                        <a:t>Cobertura mensual solo alertas de noticias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050" b="1" i="0" u="none" strike="noStrike" noProof="0" dirty="0">
                          <a:solidFill>
                            <a:schemeClr val="tx1"/>
                          </a:solidFill>
                          <a:effectLst/>
                          <a:latin typeface="+mn-lt"/>
                        </a:rPr>
                        <a:t>$400 USD x mes </a:t>
                      </a:r>
                      <a:endParaRPr lang="es-MX" sz="105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8411908"/>
                  </a:ext>
                </a:extLst>
              </a:tr>
              <a:tr h="617380">
                <a:tc>
                  <a:txBody>
                    <a:bodyPr/>
                    <a:lstStyle/>
                    <a:p>
                      <a:pPr lvl="0" algn="l" rtl="0" fontAlgn="b"/>
                      <a:r>
                        <a:rPr lang="es-MX" sz="1050" b="0" u="none" strike="noStrike" noProof="0" dirty="0">
                          <a:solidFill>
                            <a:schemeClr val="tx1"/>
                          </a:solidFill>
                          <a:effectLst/>
                        </a:rPr>
                        <a:t>Monitoreo de cobertura mediática 24/7 de temas de interés para el cliente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0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ES" sz="10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05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81401054"/>
                  </a:ext>
                </a:extLst>
              </a:tr>
            </a:tbl>
          </a:graphicData>
        </a:graphic>
      </p:graphicFrame>
    </p:spTree>
    <p:extLst>
      <p:ext uri="{BB962C8B-B14F-4D97-AF65-F5344CB8AC3E}">
        <p14:creationId xmlns:p14="http://schemas.microsoft.com/office/powerpoint/2010/main" val="2537957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8073091" y="1969839"/>
            <a:ext cx="2095064" cy="670919"/>
          </a:xfrm>
          <a:solidFill>
            <a:srgbClr val="F9F9F9">
              <a:alpha val="50000"/>
            </a:srgbClr>
          </a:solidFill>
        </p:spPr>
        <p:txBody>
          <a:bodyPr rtlCol="0" anchor="ctr"/>
          <a:lstStyle/>
          <a:p>
            <a:pPr algn="ctr" rtl="0"/>
            <a:r>
              <a:rPr lang="es-MX" noProof="0" dirty="0"/>
              <a:t>QUIÉN Soy</a:t>
            </a:r>
          </a:p>
        </p:txBody>
      </p:sp>
      <p:sp>
        <p:nvSpPr>
          <p:cNvPr id="3" name="Subtítulo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6429375" y="3428999"/>
            <a:ext cx="5382496" cy="2400300"/>
          </a:xfrm>
          <a:solidFill>
            <a:srgbClr val="F9F9F9">
              <a:alpha val="80000"/>
            </a:srgbClr>
          </a:solidFill>
        </p:spPr>
        <p:txBody>
          <a:bodyPr rtlCol="0" anchor="ctr">
            <a:normAutofit/>
          </a:bodyPr>
          <a:lstStyle/>
          <a:p>
            <a:pPr algn="ctr" rtl="0"/>
            <a:r>
              <a:rPr lang="es-ES" noProof="0" dirty="0"/>
              <a:t>Licenciado en Comunicación por la Universidad Panamericana con una especialidad en Minería y Análisis de Datos por el Tecnológico de Monterrey. Más de 10 años de experiencia como estratega de comunicación desarrollando campañas integrales potenciadas por el análisis de datos para gobiernos, candidatos, partidos políticos, ONG, grupos de interés y empresas en </a:t>
            </a:r>
            <a:r>
              <a:rPr lang="es-MX" dirty="0"/>
              <a:t>México, Estados Unidos, Colombia, Ecuador y Panamá, entre otros. </a:t>
            </a:r>
            <a:endParaRPr lang="es-MX" noProof="0" dirty="0"/>
          </a:p>
        </p:txBody>
      </p:sp>
      <p:sp>
        <p:nvSpPr>
          <p:cNvPr id="6" name="Marcador de fecha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s-MX" noProof="0" dirty="0"/>
              <a:t>2026</a:t>
            </a:r>
          </a:p>
        </p:txBody>
      </p:sp>
      <p:sp>
        <p:nvSpPr>
          <p:cNvPr id="5" name="Marcador de pie de página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s-MX" noProof="0" smtClean="0"/>
              <a:pPr rtl="0"/>
              <a:t>13</a:t>
            </a:fld>
            <a:endParaRPr lang="es-MX" noProof="0" dirty="0"/>
          </a:p>
        </p:txBody>
      </p:sp>
      <p:pic>
        <p:nvPicPr>
          <p:cNvPr id="8" name="Imagen 7">
            <a:extLst>
              <a:ext uri="{FF2B5EF4-FFF2-40B4-BE49-F238E27FC236}">
                <a16:creationId xmlns:a16="http://schemas.microsoft.com/office/drawing/2014/main" id="{A0AB3B20-AB5C-2DBF-0DF4-F255675A59A2}"/>
              </a:ext>
            </a:extLst>
          </p:cNvPr>
          <p:cNvPicPr>
            <a:picLocks noChangeAspect="1"/>
          </p:cNvPicPr>
          <p:nvPr/>
        </p:nvPicPr>
        <p:blipFill>
          <a:blip r:embed="rId3"/>
          <a:stretch>
            <a:fillRect/>
          </a:stretch>
        </p:blipFill>
        <p:spPr>
          <a:xfrm>
            <a:off x="851062" y="1969839"/>
            <a:ext cx="2935190" cy="2918321"/>
          </a:xfrm>
          <a:prstGeom prst="rect">
            <a:avLst/>
          </a:prstGeom>
        </p:spPr>
      </p:pic>
    </p:spTree>
    <p:extLst>
      <p:ext uri="{BB962C8B-B14F-4D97-AF65-F5344CB8AC3E}">
        <p14:creationId xmlns:p14="http://schemas.microsoft.com/office/powerpoint/2010/main" val="2243494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s-MX" noProof="0" dirty="0"/>
              <a:t>GRACIAS</a:t>
            </a:r>
          </a:p>
        </p:txBody>
      </p:sp>
      <p:sp>
        <p:nvSpPr>
          <p:cNvPr id="3" name="Marcador de posición de contenido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s-MX" noProof="0" dirty="0"/>
              <a:t>Luis Daniel Santiago Vidargas</a:t>
            </a:r>
          </a:p>
          <a:p>
            <a:pPr rtl="0"/>
            <a:r>
              <a:rPr lang="es-MX" noProof="0" dirty="0"/>
              <a:t>+52 55 41 86 17 61</a:t>
            </a:r>
          </a:p>
          <a:p>
            <a:pPr rtl="0"/>
            <a:r>
              <a:rPr lang="es-MX" noProof="0" dirty="0"/>
              <a:t>medios.monitoreo.plus@gmail.com</a:t>
            </a:r>
          </a:p>
        </p:txBody>
      </p:sp>
      <p:sp>
        <p:nvSpPr>
          <p:cNvPr id="6" name="Marcador de número de diapositiva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s-MX" noProof="0" smtClean="0"/>
              <a:pPr rtl="0"/>
              <a:t>14</a:t>
            </a:fld>
            <a:endParaRPr lang="es-MX" noProof="0" dirty="0"/>
          </a:p>
        </p:txBody>
      </p:sp>
      <p:sp>
        <p:nvSpPr>
          <p:cNvPr id="7" name="Marcador de pie de página 2">
            <a:extLst>
              <a:ext uri="{FF2B5EF4-FFF2-40B4-BE49-F238E27FC236}">
                <a16:creationId xmlns:a16="http://schemas.microsoft.com/office/drawing/2014/main" id="{405C5E0C-48DE-4427-7E5B-80C69C9E6D8A}"/>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8" name="Marcador de fecha 1">
            <a:extLst>
              <a:ext uri="{FF2B5EF4-FFF2-40B4-BE49-F238E27FC236}">
                <a16:creationId xmlns:a16="http://schemas.microsoft.com/office/drawing/2014/main" id="{59DA279A-99BC-73BE-3D17-EC50F1DC4BA8}"/>
              </a:ext>
            </a:extLst>
          </p:cNvPr>
          <p:cNvSpPr>
            <a:spLocks noGrp="1"/>
          </p:cNvSpPr>
          <p:nvPr>
            <p:ph type="dt" sz="half" idx="10"/>
          </p:nvPr>
        </p:nvSpPr>
        <p:spPr>
          <a:xfrm>
            <a:off x="838200" y="6356350"/>
            <a:ext cx="2743200" cy="365125"/>
          </a:xfrm>
        </p:spPr>
        <p:txBody>
          <a:bodyPr rtlCol="0"/>
          <a:lstStyle/>
          <a:p>
            <a:pPr rtl="0"/>
            <a:r>
              <a:rPr lang="es-MX" dirty="0"/>
              <a:t>2026</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Una sola línea">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9_TF56180624_Win32" id="{DA94138B-457B-4604-9749-588237BB90A3}" vid="{46A1F4DD-802B-4175-966B-E16743FC789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2.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97B18F-50BC-4F30-8373-93489E845F83}">
  <ds:schemaRefs>
    <ds:schemaRef ds:uri="http://purl.org/dc/elements/1.1/"/>
    <ds:schemaRef ds:uri="http://www.w3.org/XML/1998/namespace"/>
    <ds:schemaRef ds:uri="http://schemas.microsoft.com/sharepoint/v3"/>
    <ds:schemaRef ds:uri="http://schemas.microsoft.com/office/2006/documentManagement/types"/>
    <ds:schemaRef ds:uri="http://purl.org/dc/dcmitype/"/>
    <ds:schemaRef ds:uri="http://schemas.microsoft.com/office/2006/metadata/properties"/>
    <ds:schemaRef ds:uri="230e9df3-be65-4c73-a93b-d1236ebd677e"/>
    <ds:schemaRef ds:uri="http://schemas.microsoft.com/office/infopath/2007/PartnerControls"/>
    <ds:schemaRef ds:uri="71af3243-3dd4-4a8d-8c0d-dd76da1f02a5"/>
    <ds:schemaRef ds:uri="http://schemas.openxmlformats.org/package/2006/metadata/core-properties"/>
    <ds:schemaRef ds:uri="16c05727-aa75-4e4a-9b5f-8a80a1165891"/>
    <ds:schemaRef ds:uri="http://purl.org/dc/te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 tenue</Template>
  <TotalTime>6260</TotalTime>
  <Words>993</Words>
  <Application>Microsoft Office PowerPoint</Application>
  <PresentationFormat>Panorámica</PresentationFormat>
  <Paragraphs>136</Paragraphs>
  <Slides>14</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Tenorite</vt:lpstr>
      <vt:lpstr>Una sola línea</vt:lpstr>
      <vt:lpstr>Monitoreo + </vt:lpstr>
      <vt:lpstr>El Problema</vt:lpstr>
      <vt:lpstr>La herramienta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Diversas fuentes de información</vt:lpstr>
      <vt:lpstr>PAQUETES Y COSTOS</vt:lpstr>
      <vt:lpstr>QUIÉN Soy</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Daniel Santiago Vidargas</dc:creator>
  <cp:lastModifiedBy>Luis Daniel Santiago Vidargas</cp:lastModifiedBy>
  <cp:revision>41</cp:revision>
  <dcterms:created xsi:type="dcterms:W3CDTF">2025-01-22T17:57:52Z</dcterms:created>
  <dcterms:modified xsi:type="dcterms:W3CDTF">2026-10-07T00:19:59Z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